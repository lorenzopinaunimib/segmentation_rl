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75"/>
    <p:restoredTop sz="94703"/>
  </p:normalViewPr>
  <p:slideViewPr>
    <p:cSldViewPr snapToGrid="0" snapToObjects="1">
      <p:cViewPr varScale="1">
        <p:scale>
          <a:sx n="128" d="100"/>
          <a:sy n="128" d="100"/>
        </p:scale>
        <p:origin x="80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gif"/><Relationship Id="rId3" Type="http://schemas.openxmlformats.org/officeDocument/2006/relationships/image" Target="../media/image49.png"/><Relationship Id="rId7" Type="http://schemas.openxmlformats.org/officeDocument/2006/relationships/image" Target="../media/image53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gif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orenzoPinaUnimib/segmentation_r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993" y="1804094"/>
            <a:ext cx="3148012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375" y="2146994"/>
            <a:ext cx="10001250" cy="1654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sz="3600" b="1" i="0" u="none" dirty="0" err="1">
                <a:solidFill>
                  <a:srgbClr val="FFFFFF"/>
                </a:solidFill>
                <a:latin typeface="Poppins"/>
              </a:rPr>
              <a:t>Localizzazione</a:t>
            </a:r>
            <a:r>
              <a:rPr sz="3600" b="1" i="0" u="none" dirty="0">
                <a:solidFill>
                  <a:srgbClr val="FFFFFF"/>
                </a:solidFill>
                <a:latin typeface="Poppins"/>
              </a:rPr>
              <a:t> di </a:t>
            </a:r>
            <a:r>
              <a:rPr sz="3600" b="1" i="0" u="none" dirty="0" err="1">
                <a:solidFill>
                  <a:srgbClr val="FFFFFF"/>
                </a:solidFill>
                <a:latin typeface="Poppins"/>
              </a:rPr>
              <a:t>Tumori</a:t>
            </a:r>
            <a:r>
              <a:rPr sz="3600" b="1" i="0" u="none" dirty="0">
                <a:solidFill>
                  <a:srgbClr val="FFFFFF"/>
                </a:solidFill>
                <a:latin typeface="Poppins"/>
              </a:rPr>
              <a:t> </a:t>
            </a:r>
            <a:r>
              <a:rPr sz="3600" b="1" i="0" u="none" dirty="0" err="1">
                <a:solidFill>
                  <a:srgbClr val="FFFFFF"/>
                </a:solidFill>
                <a:latin typeface="Poppins"/>
              </a:rPr>
              <a:t>Cerebrali</a:t>
            </a:r>
            <a:r>
              <a:rPr sz="3600" b="1" i="0" u="none" dirty="0">
                <a:solidFill>
                  <a:srgbClr val="FFFFFF"/>
                </a:solidFill>
                <a:latin typeface="Poppins"/>
              </a:rPr>
              <a:t> da MRI </a:t>
            </a:r>
            <a:r>
              <a:rPr sz="3600" b="1" i="0" u="none" dirty="0" err="1">
                <a:solidFill>
                  <a:srgbClr val="FFFFFF"/>
                </a:solidFill>
                <a:latin typeface="Poppins"/>
              </a:rPr>
              <a:t>mediante</a:t>
            </a:r>
            <a:r>
              <a:rPr sz="3600" b="1" i="0" u="none" dirty="0">
                <a:solidFill>
                  <a:srgbClr val="FFFFFF"/>
                </a:solidFill>
                <a:latin typeface="Poppins"/>
              </a:rPr>
              <a:t> Reinforcement Learning</a:t>
            </a:r>
            <a:r>
              <a:rPr lang="it-IT" sz="3600" b="1" i="0" u="none" dirty="0">
                <a:solidFill>
                  <a:srgbClr val="FFFFFF"/>
                </a:solidFill>
                <a:latin typeface="Poppins"/>
              </a:rPr>
              <a:t> con </a:t>
            </a:r>
            <a:r>
              <a:rPr lang="it-IT" sz="3600" b="1" i="0" u="none" dirty="0" err="1">
                <a:solidFill>
                  <a:srgbClr val="FFFFFF"/>
                </a:solidFill>
                <a:latin typeface="Poppins"/>
              </a:rPr>
              <a:t>Imitation</a:t>
            </a:r>
            <a:r>
              <a:rPr lang="it-IT" sz="3600" b="1" i="0" u="none" dirty="0">
                <a:solidFill>
                  <a:srgbClr val="FFFFFF"/>
                </a:solidFill>
                <a:latin typeface="Poppins"/>
              </a:rPr>
              <a:t> Learning guidato</a:t>
            </a:r>
            <a:endParaRPr sz="3600" b="1" i="0" u="none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47875" y="3929952"/>
            <a:ext cx="8096250" cy="271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Apprendimento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it-IT" sz="1500" dirty="0">
                <a:solidFill>
                  <a:srgbClr val="94A3B8"/>
                </a:solidFill>
                <a:latin typeface="Inter"/>
              </a:rPr>
              <a:t>d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ecisionale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it-IT" sz="1500" dirty="0">
                <a:solidFill>
                  <a:srgbClr val="94A3B8"/>
                </a:solidFill>
                <a:latin typeface="Inter"/>
              </a:rPr>
              <a:t>s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equenziale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it-IT" sz="1500" dirty="0">
                <a:solidFill>
                  <a:srgbClr val="94A3B8"/>
                </a:solidFill>
                <a:latin typeface="Inter"/>
              </a:rPr>
              <a:t>g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uidato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da Imitation Learning con </a:t>
            </a:r>
            <a:r>
              <a:rPr lang="it-IT" sz="1500" dirty="0">
                <a:solidFill>
                  <a:srgbClr val="94A3B8"/>
                </a:solidFill>
                <a:latin typeface="Inter"/>
              </a:rPr>
              <a:t>o</a:t>
            </a:r>
            <a:r>
              <a:rPr sz="1500" b="0" i="0" u="none" dirty="0" err="1">
                <a:solidFill>
                  <a:srgbClr val="94A3B8"/>
                </a:solidFill>
                <a:latin typeface="Inter"/>
              </a:rPr>
              <a:t>racolo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it-IT" sz="1500">
                <a:solidFill>
                  <a:srgbClr val="94A3B8"/>
                </a:solidFill>
                <a:latin typeface="Inter"/>
              </a:rPr>
              <a:t>l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ookahead</a:t>
            </a:r>
            <a:endParaRPr sz="1500" b="0" i="0" u="none" dirty="0">
              <a:solidFill>
                <a:srgbClr val="94A3B8"/>
              </a:solidFill>
              <a:latin typeface="Inter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075" y="4577655"/>
            <a:ext cx="48958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43350" y="4701480"/>
            <a:ext cx="1857375" cy="22860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 dirty="0">
                <a:solidFill>
                  <a:srgbClr val="CBD5E1"/>
                </a:solidFill>
                <a:latin typeface="Inter"/>
              </a:rPr>
              <a:t>Pina Lorenzo (894396)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91225" y="4701480"/>
            <a:ext cx="47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9350" y="4701480"/>
            <a:ext cx="2019300" cy="22860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Rancati Simone (900052)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3350" y="4739580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4739580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05037"/>
            <a:ext cx="5334000" cy="3362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205037"/>
            <a:ext cx="5334000" cy="3362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Inquadramento del Problema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5825" y="2519362"/>
            <a:ext cx="4940617" cy="314325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Limiti degli Approcci Classici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825" y="2519362"/>
            <a:ext cx="4940617" cy="314325"/>
          </a:xfrm>
          <a:prstGeom prst="rect">
            <a:avLst/>
          </a:prstGeom>
          <a:noFill/>
        </p:spPr>
        <p:txBody>
          <a:bodyPr wrap="square" lIns="34290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Paradigm Shift: RL Sequenziale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" y="2566987"/>
            <a:ext cx="209550" cy="209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1075" y="296465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2967037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L'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Object Detection supervisionato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richiede vasti dataset annotati e fornisce predizioni in un singolo forward pass, agendo come una "scatola nera".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075" y="3807618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810000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Non rispecchia il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processo mentale del radiologo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, che esplora l'immagine affinando iterativamente l'attenzione sulla lesione.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465058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4652962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Particolarmente critico nel dominio medicale dove i dati etichettati sono spesso limitati.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825" y="2566987"/>
            <a:ext cx="26670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6075" y="296465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1325" y="2967037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La localizzazione è formulata come un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Markov Decision Process (MDP)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6075" y="356473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1325" y="3567112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Un agente osserva l'immagine e la box corrente e sceglie azioni elementari per trasformare la box verso il target.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6075" y="416480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1325" y="4167187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Consente di integrare 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Imitation Learning (DQfD)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e reward dense per addestramenti campionariamente efficienti.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52662"/>
            <a:ext cx="3492549" cy="3267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252662"/>
            <a:ext cx="3492549" cy="3267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252662"/>
            <a:ext cx="3492549" cy="32670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Dataset &amp; Analisi delle Lesioni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547937"/>
            <a:ext cx="514350" cy="514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6775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Brain Tumor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3795712"/>
            <a:ext cx="2901999" cy="1073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2.145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scansioni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MRI 2D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suddivise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in:</a:t>
            </a:r>
            <a:r>
              <a:rPr dirty="0"/>
              <a:t>
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• </a:t>
            </a:r>
            <a:r>
              <a:rPr sz="1125" b="1" i="0" u="none" dirty="0">
                <a:solidFill>
                  <a:srgbClr val="475569"/>
                </a:solidFill>
                <a:latin typeface="Inter"/>
              </a:rPr>
              <a:t>Train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: 1.501 (~70%)</a:t>
            </a:r>
            <a:r>
              <a:rPr dirty="0"/>
              <a:t>
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• </a:t>
            </a:r>
            <a:r>
              <a:rPr sz="1125" b="1" i="0" u="none" dirty="0">
                <a:solidFill>
                  <a:srgbClr val="475569"/>
                </a:solidFill>
                <a:latin typeface="Inter"/>
              </a:rPr>
              <a:t>Val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: 429 (~20%)</a:t>
            </a:r>
            <a:r>
              <a:rPr dirty="0"/>
              <a:t>
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• </a:t>
            </a:r>
            <a:r>
              <a:rPr sz="1125" b="1" i="0" u="none" dirty="0">
                <a:solidFill>
                  <a:srgbClr val="475569"/>
                </a:solidFill>
                <a:latin typeface="Inter"/>
              </a:rPr>
              <a:t>Test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: 215 (~10%)</a:t>
            </a:r>
            <a:r>
              <a:rPr dirty="0"/>
              <a:t>
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Risoluzione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uniforme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224 </a:t>
            </a:r>
            <a:r>
              <a:rPr lang="it-IT" sz="1125" b="0" i="0" u="none" dirty="0">
                <a:solidFill>
                  <a:srgbClr val="475569"/>
                </a:solidFill>
                <a:latin typeface="Inter"/>
              </a:rPr>
              <a:t>×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224 × 3 pixels.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547937"/>
            <a:ext cx="514350" cy="514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45074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Distribuzione e Dimensioni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3795712"/>
            <a:ext cx="2901999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• Area media occupata: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2.9% dell'immagine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(lesioni molto piccole).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Distribuzione dell'intensità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bimodale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(scura 0.0–0.3 e chiara 0.7–0.9).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Nessuno shift sistematico tra train, val e test.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547937"/>
            <a:ext cx="514350" cy="514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23374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Variabilità Geometrica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3374" y="3795712"/>
            <a:ext cx="2901999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• Elevata asimmetria nell'</a:t>
            </a:r>
            <a:r>
              <a:rPr sz="1125" b="0" i="1" u="none">
                <a:solidFill>
                  <a:srgbClr val="475569"/>
                </a:solidFill>
                <a:latin typeface="Inter"/>
              </a:rPr>
              <a:t>aspect ratio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(forme allungate con coda &gt; 3).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Geometrie irregolari e disomogenee.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Lesioni tendenzialmente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decentrate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rispetto all'origine dell'immagine.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412" y="2681287"/>
            <a:ext cx="219075" cy="2476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4137" y="2681287"/>
            <a:ext cx="27622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56724" y="2681287"/>
            <a:ext cx="24765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52662"/>
            <a:ext cx="3492549" cy="3267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252662"/>
            <a:ext cx="3492549" cy="3267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252662"/>
            <a:ext cx="3492549" cy="32670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Formulazione dell'Ambiente MDP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547937"/>
            <a:ext cx="514350" cy="514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6775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Spazio degli Stati (S)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3795712"/>
            <a:ext cx="290199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Composto da: Crop visivo dalla feature map via RoI Align, storia delle ultime 10 azioni, coordinate normalizzate, progresso temporale e feature di bias spaziale.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547937"/>
            <a:ext cx="514350" cy="514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45074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Spazio delle Azioni (A)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3795712"/>
            <a:ext cx="2901999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9 Azioni Discrete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: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Traslazione (Dx, Sx, Su, Giù)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Ridimensionamento (Stringi/Espandi H/V)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Trigger di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STOP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Passo dinamico pari al 10% della box.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547937"/>
            <a:ext cx="514350" cy="514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23374" y="3252787"/>
            <a:ext cx="304709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Dinamica dell'Ambiente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3374" y="3795712"/>
            <a:ext cx="290199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Transizioni deterministiche. Inizio dall'intera immagine. Termina con l'azione di STOP o al raggiungimento del limite massimo di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50 step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(troncamento).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837" y="2681287"/>
            <a:ext cx="276225" cy="2476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087" y="2681287"/>
            <a:ext cx="31432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71011" y="2681287"/>
            <a:ext cx="219075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86500" y="1219375"/>
            <a:ext cx="5334000" cy="46573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Ingegneria dell'Osservazione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6300" y="207645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RoI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Align con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Contesto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Estrae le feature 7 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x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7 della box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corrente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dalla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feature map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globale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ResNet18 (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calcolata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1 sola volta per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episodio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)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aggiungendo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16px di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margine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91465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334155"/>
                </a:solidFill>
                <a:latin typeface="Inter"/>
              </a:rPr>
              <a:t>Storia delle Azioni</a:t>
            </a:r>
            <a:r>
              <a:rPr sz="1200" b="0" i="0" u="none">
                <a:solidFill>
                  <a:srgbClr val="334155"/>
                </a:solidFill>
                <a:latin typeface="Inter"/>
              </a:rPr>
              <a:t>: Vettore one-hot delle ultime 10 azioni (10 × 9 = 90 dimensioni) per conferire memoria all'agente.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52425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>
                <a:solidFill>
                  <a:srgbClr val="334155"/>
                </a:solidFill>
                <a:latin typeface="Inter"/>
              </a:rPr>
              <a:t>Feature di Bias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Spaziale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(6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val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)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Misurano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dove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si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concentra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l'energia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dell'attivazione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(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bilanciamento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L/R e U/D,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baricentro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e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dispersione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4133850"/>
            <a:ext cx="5029200" cy="444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>
                <a:solidFill>
                  <a:srgbClr val="334155"/>
                </a:solidFill>
                <a:latin typeface="Inter"/>
              </a:rPr>
              <a:t>Coordinate e Progresso (5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val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)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Coordinate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normalizzate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 ( x</a:t>
            </a:r>
            <a:r>
              <a:rPr lang="it-IT" sz="1200" b="0" i="0" u="none" baseline="-25000" dirty="0">
                <a:solidFill>
                  <a:srgbClr val="334155"/>
                </a:solidFill>
                <a:latin typeface="Inter"/>
              </a:rPr>
              <a:t>1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, y</a:t>
            </a:r>
            <a:r>
              <a:rPr lang="it-IT" sz="1200" b="0" i="0" u="none" baseline="-25000" dirty="0">
                <a:solidFill>
                  <a:srgbClr val="334155"/>
                </a:solidFill>
                <a:latin typeface="Inter"/>
              </a:rPr>
              <a:t>1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, x</a:t>
            </a:r>
            <a:r>
              <a:rPr lang="it-IT" sz="1200" b="0" i="0" u="none" baseline="-25000" dirty="0">
                <a:solidFill>
                  <a:srgbClr val="334155"/>
                </a:solidFill>
                <a:latin typeface="Inter"/>
              </a:rPr>
              <a:t>2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, y</a:t>
            </a:r>
            <a:r>
              <a:rPr lang="it-IT" sz="1200" b="0" i="0" u="none" baseline="-25000" dirty="0">
                <a:solidFill>
                  <a:srgbClr val="334155"/>
                </a:solidFill>
                <a:latin typeface="Inter"/>
              </a:rPr>
              <a:t>2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)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 e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frazione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di step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trascorsi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.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 </a:t>
            </a:r>
            <a:endParaRPr sz="1200" b="0" i="0" u="none" dirty="0">
              <a:solidFill>
                <a:srgbClr val="334155"/>
              </a:solidFill>
              <a:latin typeface="Inter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100262"/>
            <a:ext cx="17145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38462"/>
            <a:ext cx="17145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548062"/>
            <a:ext cx="171450" cy="1809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157662"/>
            <a:ext cx="171450" cy="1809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43720"/>
            <a:ext cx="5334000" cy="348481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143720"/>
            <a:ext cx="5334000" cy="34848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1325" y="3760291"/>
            <a:ext cx="4514850" cy="5966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Architettura: Attention &amp; Dueling DQN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5825" y="2458045"/>
            <a:ext cx="4940617" cy="31432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Feature Extractor &amp; Pooling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825" y="2458045"/>
            <a:ext cx="4940617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Dueling Double DQN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" y="2505670"/>
            <a:ext cx="26670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1075" y="2903339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6325" y="2905720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Backbone ResNet18 (Congelata)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Utilizzata come estrattore di caratteristiche senza aggiornamento dei gradienti per prevenire overfitting.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74630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325" y="3748682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SpatialAttentionPool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Combina il Global Average Pooling con una mappa di attenzione calcolata via convoluzione 1 × 1 + Softmax spaziale.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589264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" y="4591645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Invia alla testa decisionale un vettore di embedding visivo di dimensione 512.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0825" y="2505670"/>
            <a:ext cx="209550" cy="2095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6075" y="2903339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1325" y="2905720"/>
            <a:ext cx="4514850" cy="46955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 dirty="0">
                <a:solidFill>
                  <a:srgbClr val="334155"/>
                </a:solidFill>
                <a:latin typeface="Inter"/>
              </a:rPr>
              <a:t>Dueling Architecture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Separa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la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stima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del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valore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dello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stato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V(s)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dalla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stima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del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vantaggio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di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ciascuna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azione 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A(</a:t>
            </a:r>
            <a:r>
              <a:rPr lang="it-IT" sz="1275" b="0" i="0" u="none" dirty="0" err="1">
                <a:solidFill>
                  <a:srgbClr val="334155"/>
                </a:solidFill>
                <a:latin typeface="Inter"/>
              </a:rPr>
              <a:t>s,a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)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6075" y="4468862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1325" y="4471243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Double DQN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Disaccoppia la selezione dell'azione (policy network) dalla valutazione (target network) per eliminare la sovrastima dei Q-value.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9478" y="3893641"/>
            <a:ext cx="4058394" cy="329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99233"/>
            <a:ext cx="5334000" cy="337393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199233"/>
            <a:ext cx="5334000" cy="33739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Reward Shaping &amp; Metrica CIoU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5825" y="2513558"/>
            <a:ext cx="4940617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Perché la Complete IoU (CIoU)?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825" y="2513558"/>
            <a:ext cx="4940617" cy="314325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Struttura della Funzione di Reward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" y="2561183"/>
            <a:ext cx="209550" cy="209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1075" y="295885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2961233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L'</a:t>
            </a:r>
            <a:r>
              <a:rPr sz="1275" b="1" i="0" u="none">
                <a:solidFill>
                  <a:srgbClr val="334155"/>
                </a:solidFill>
                <a:latin typeface="Inter"/>
              </a:rPr>
              <a:t>IoU standard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 ha gradiente nullo quando le box non si sovrappongono (IoU = 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075" y="3558926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561308"/>
            <a:ext cx="4514850" cy="95686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>
              <a:lnSpc>
                <a:spcPts val="1912"/>
              </a:lnSpc>
            </a:pPr>
            <a:r>
              <a:rPr sz="1275" b="0" i="0" u="none" dirty="0">
                <a:solidFill>
                  <a:srgbClr val="334155"/>
                </a:solidFill>
                <a:latin typeface="Inter"/>
              </a:rPr>
              <a:t>La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CIoU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estende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l'IoU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considerando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tre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fattori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geometrici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dirty="0"/>
              <a:t>
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1.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Sovrapposizione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dell'area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         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(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IoU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) </a:t>
            </a:r>
            <a:r>
              <a:rPr dirty="0"/>
              <a:t>
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2.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Distanza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tra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centri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delle </a:t>
            </a:r>
            <a:r>
              <a:rPr sz="1275" dirty="0">
                <a:solidFill>
                  <a:srgbClr val="334155"/>
                </a:solidFill>
                <a:latin typeface="Inter"/>
              </a:rPr>
              <a:t>box</a:t>
            </a:r>
            <a:r>
              <a:rPr lang="it-IT" sz="1275" dirty="0">
                <a:solidFill>
                  <a:srgbClr val="334155"/>
                </a:solidFill>
                <a:latin typeface="Inter"/>
              </a:rPr>
              <a:t>    (</a:t>
            </a:r>
            <a:r>
              <a:rPr lang="el-GR" sz="1275" dirty="0">
                <a:solidFill>
                  <a:srgbClr val="334155"/>
                </a:solidFill>
                <a:latin typeface="Inter"/>
              </a:rPr>
              <a:t>ρ</a:t>
            </a:r>
            <a:r>
              <a:rPr lang="it-IT" sz="1275" baseline="30000" dirty="0">
                <a:solidFill>
                  <a:srgbClr val="334155"/>
                </a:solidFill>
                <a:latin typeface="Inter"/>
              </a:rPr>
              <a:t>2</a:t>
            </a:r>
            <a:r>
              <a:rPr lang="it-IT" sz="1275" dirty="0">
                <a:solidFill>
                  <a:srgbClr val="334155"/>
                </a:solidFill>
                <a:latin typeface="Inter"/>
              </a:rPr>
              <a:t>/c</a:t>
            </a:r>
            <a:r>
              <a:rPr lang="it-IT" sz="1275" baseline="30000" dirty="0">
                <a:solidFill>
                  <a:srgbClr val="334155"/>
                </a:solidFill>
                <a:latin typeface="Inter"/>
              </a:rPr>
              <a:t>2</a:t>
            </a:r>
            <a:r>
              <a:rPr lang="it-IT" sz="1275" dirty="0">
                <a:solidFill>
                  <a:srgbClr val="334155"/>
                </a:solidFill>
                <a:latin typeface="Inter"/>
              </a:rPr>
              <a:t>)</a:t>
            </a:r>
            <a:r>
              <a:rPr dirty="0"/>
              <a:t>
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3.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Incoerenza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dell'aspect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ratio  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     (</a:t>
            </a:r>
            <a:r>
              <a:rPr lang="el-GR" sz="1275" b="0" i="0" u="none" dirty="0">
                <a:solidFill>
                  <a:srgbClr val="334155"/>
                </a:solidFill>
                <a:latin typeface="Inter"/>
              </a:rPr>
              <a:t>α</a:t>
            </a:r>
            <a:r>
              <a:rPr lang="it-IT" sz="1275" dirty="0">
                <a:solidFill>
                  <a:srgbClr val="334155"/>
                </a:solidFill>
                <a:latin typeface="Inter"/>
                <a:cs typeface="Times New Roman" panose="02020603050405020304" pitchFamily="18" charset="0"/>
              </a:rPr>
              <a:t>υ)</a:t>
            </a:r>
            <a:endParaRPr sz="1275" b="0" i="0" u="none" dirty="0">
              <a:solidFill>
                <a:srgbClr val="334155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81075" y="4656385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4658766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Fornisce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un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segnale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denso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e continuo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anche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a grande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distanza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dal target.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825" y="2561183"/>
            <a:ext cx="161925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6075" y="295885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1325" y="2961233"/>
            <a:ext cx="4514850" cy="225896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 dirty="0">
                <a:solidFill>
                  <a:srgbClr val="334155"/>
                </a:solidFill>
                <a:latin typeface="Inter"/>
              </a:rPr>
              <a:t>Reward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Incrementale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: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  </a:t>
            </a:r>
            <a:r>
              <a:rPr lang="it-IT" sz="1275" b="0" i="0" u="none" dirty="0" err="1">
                <a:solidFill>
                  <a:srgbClr val="334155"/>
                </a:solidFill>
                <a:latin typeface="Inter"/>
              </a:rPr>
              <a:t>r</a:t>
            </a:r>
            <a:r>
              <a:rPr lang="it-IT" sz="1275" b="0" i="0" u="none" baseline="30000" dirty="0" err="1">
                <a:solidFill>
                  <a:srgbClr val="334155"/>
                </a:solidFill>
                <a:latin typeface="Inter"/>
              </a:rPr>
              <a:t>move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 = 5 </a:t>
            </a:r>
            <a:r>
              <a:rPr lang="it-IT" sz="1275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˖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el-GR" sz="1275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it-IT" sz="1275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CIoU</a:t>
            </a:r>
            <a:r>
              <a:rPr lang="it-IT" sz="1275" b="0" i="0" u="none" baseline="-25000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0647" y="3458071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 dirty="0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1325" y="3452974"/>
            <a:ext cx="4514850" cy="225896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Penalità</a:t>
            </a:r>
            <a:r>
              <a:rPr sz="1275" b="1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Temporale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lang="it-IT" sz="1275" b="0" i="0" u="none" dirty="0" err="1">
                <a:solidFill>
                  <a:srgbClr val="334155"/>
                </a:solidFill>
                <a:latin typeface="Inter"/>
              </a:rPr>
              <a:t>r</a:t>
            </a:r>
            <a:r>
              <a:rPr lang="it-IT" sz="1275" b="0" i="0" u="none" baseline="30000" dirty="0" err="1">
                <a:solidFill>
                  <a:srgbClr val="334155"/>
                </a:solidFill>
                <a:latin typeface="Inter"/>
              </a:rPr>
              <a:t>step</a:t>
            </a:r>
            <a:r>
              <a:rPr lang="it-IT" sz="1275" b="0" i="0" u="none" dirty="0">
                <a:solidFill>
                  <a:srgbClr val="334155"/>
                </a:solidFill>
                <a:latin typeface="Inter"/>
              </a:rPr>
              <a:t> = -0,02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 per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incentivare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percorsi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brevi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6075" y="3927723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 dirty="0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1325" y="3930104"/>
            <a:ext cx="4514850" cy="46955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 dirty="0">
                <a:solidFill>
                  <a:srgbClr val="334155"/>
                </a:solidFill>
                <a:latin typeface="Inter"/>
              </a:rPr>
              <a:t>Bonus/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Penalità</a:t>
            </a:r>
            <a:r>
              <a:rPr sz="1275" b="1" i="0" u="none" dirty="0">
                <a:solidFill>
                  <a:srgbClr val="334155"/>
                </a:solidFill>
                <a:latin typeface="Inter"/>
              </a:rPr>
              <a:t> di STOP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: Premio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positivo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se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IoU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≥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τ</a:t>
            </a:r>
            <a:r>
              <a:rPr sz="1275" b="0" i="0" u="none" baseline="-25000" dirty="0" err="1">
                <a:solidFill>
                  <a:srgbClr val="334155"/>
                </a:solidFill>
                <a:latin typeface="Inter"/>
              </a:rPr>
              <a:t>IoU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(0.6),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penalità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severa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per stop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prematuri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o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troncamento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6075" y="4548187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1325" y="4550568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Scaling Adattivo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Normalizzazione online tramite media e varianza mobile.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06240"/>
            <a:ext cx="2845444" cy="315976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2694" y="2306240"/>
            <a:ext cx="4786610" cy="31597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055" y="2306240"/>
            <a:ext cx="2845444" cy="315976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7969" y="4541341"/>
            <a:ext cx="4196060" cy="5150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Imitation Learning &amp; Stabilizzazione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601515"/>
            <a:ext cx="514350" cy="5143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6775" y="3306365"/>
            <a:ext cx="236763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Lookahead Oracle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3849290"/>
            <a:ext cx="2254894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Oracolo con ricerca ad albero (profondità 2) che guida l'agente nelle prime fasi simulando le conseguenze delle azioni per raggiungere l'80% di IoU.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97969" y="2601515"/>
            <a:ext cx="514350" cy="5143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7969" y="3306365"/>
            <a:ext cx="440586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DQfD Margin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7969" y="3849290"/>
            <a:ext cx="4196060" cy="434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Forza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i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Q-value delle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azioni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suggerite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dall'oracolo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lang="it-IT" sz="1125" b="0" i="0" u="none" dirty="0" err="1">
                <a:solidFill>
                  <a:srgbClr val="475569"/>
                </a:solidFill>
                <a:latin typeface="Inter"/>
              </a:rPr>
              <a:t>a</a:t>
            </a:r>
            <a:r>
              <a:rPr lang="it-IT" sz="1125" b="0" i="0" u="none" baseline="-25000" dirty="0" err="1">
                <a:solidFill>
                  <a:srgbClr val="475569"/>
                </a:solidFill>
                <a:latin typeface="Inter"/>
              </a:rPr>
              <a:t>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 a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superare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le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altre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di un </a:t>
            </a:r>
            <a:r>
              <a:rPr sz="1125" b="0" i="0" u="none" dirty="0" err="1">
                <a:solidFill>
                  <a:srgbClr val="475569"/>
                </a:solidFill>
                <a:latin typeface="Inter"/>
              </a:rPr>
              <a:t>margine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sz="1125" b="0" i="1" u="none" dirty="0">
                <a:solidFill>
                  <a:srgbClr val="475569"/>
                </a:solidFill>
                <a:latin typeface="Inter"/>
              </a:rPr>
              <a:t>m</a:t>
            </a:r>
            <a:r>
              <a:rPr sz="1125" b="0" i="0" u="none" dirty="0">
                <a:solidFill>
                  <a:srgbClr val="475569"/>
                </a:solidFill>
                <a:latin typeface="Inter"/>
              </a:rPr>
              <a:t> = 0.8: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0330" y="2601515"/>
            <a:ext cx="514350" cy="5143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70330" y="3306365"/>
            <a:ext cx="236763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F172A"/>
                </a:solidFill>
                <a:latin typeface="Poppins SemiBold"/>
              </a:rPr>
              <a:t>PER &amp; N-Step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330" y="3849290"/>
            <a:ext cx="2254894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• Prioritized Experience Replay (α = 0.6, β: 0.4 → 1.0) per campionare gli errori TD più alti.</a:t>
            </a:r>
            <a:r>
              <a:t>
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• Ritorni a 3-step per propagazione rapida dei reward.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5837" y="2734865"/>
            <a:ext cx="27622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97982" y="2734865"/>
            <a:ext cx="314325" cy="2476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8469" y="4674691"/>
            <a:ext cx="3815060" cy="248394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7967" y="2734865"/>
            <a:ext cx="219075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Setup Sperimentale e Iperparametri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" y="2149078"/>
          <a:ext cx="11029949" cy="3474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4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8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1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Parametro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Valore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Descrizione / Ruolo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Epoche &amp; Batch Size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400 epoche / 64 episodi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Simulazione vettorizzata in parallelo su GPU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Target IoU (τIoU)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0.6 (Oracolo: 0.8)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Soglia di successo per la terminazione con STOP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Politica ε-Greedy &amp; Oracolo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1.0 → 0.1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Decadimento lineare guidato nella prima metà del training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Learning Rate &amp; Ottimizzatore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1e-4 (Adam, Weight Decay 1e-4)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Aggiornamento limitato alla sola testa decisionale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2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Replay Buffer &amp; PER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100.000 transizioni / α = 0.6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Memoria degli embedding visivi + Importance Sampling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23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Inter"/>
                        </a:rPr>
                        <a:t>Orizzonte N-step &amp; Target Soft Update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N = 3 steps / τ = 0.01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Inter"/>
                        </a:rPr>
                        <a:t>Propagazione rapida dei reward e stabilità del bootstrap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81025" y="3120628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56000" y="3120628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19900" y="3120628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1025" y="3642121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956000" y="3642121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19900" y="3642121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1025" y="4132659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956000" y="4132659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19900" y="4132659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1025" y="4623196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56000" y="4623196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19900" y="4623196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025" y="5113734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956000" y="5113734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19900" y="5113734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1025" y="5604271"/>
            <a:ext cx="33749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956000" y="5604271"/>
            <a:ext cx="28638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19900" y="5604271"/>
            <a:ext cx="479107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390650"/>
            <a:ext cx="11049000" cy="49911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Risultati Sperimentali (Test Set)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4605337"/>
            <a:ext cx="11049000" cy="71437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4748212"/>
            <a:ext cx="10668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34155"/>
                </a:solidFill>
                <a:latin typeface="Inter"/>
              </a:rPr>
              <a:t>Analisi delle Prestazioni</a:t>
            </a:r>
            <a:r>
              <a:rPr sz="1125" b="0" i="0" u="none">
                <a:solidFill>
                  <a:srgbClr val="334155"/>
                </a:solidFill>
                <a:latin typeface="Inter"/>
              </a:rPr>
              <a:t>: Valutazione condotta su 215 immagini mai viste. L'agente dimostra di aver appreso una solida politica di arresto autonomo (95.3% dei casi), riducendo gli step medi da 50 a circa 25 per episodio e raggiungendo un IoU medio del 58% negli arresti spontanei.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4605337"/>
            <a:ext cx="38100" cy="7143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Analisi dei Fallimenti &amp; GradCAM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6300" y="207645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Capacità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di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Generalizzazione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L'agente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localizza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correttamente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lesioni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di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varie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dimensioni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adattando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il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passo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di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restringimento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in modo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fluido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914650"/>
            <a:ext cx="5029200" cy="444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00"/>
              </a:lnSpc>
            </a:pP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Criticità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nei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Tumori</a:t>
            </a:r>
            <a:r>
              <a:rPr sz="1200" b="1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it-IT" sz="1200" b="1" i="0" u="none" dirty="0">
                <a:solidFill>
                  <a:srgbClr val="334155"/>
                </a:solidFill>
                <a:latin typeface="Inter"/>
              </a:rPr>
              <a:t>grigi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La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distribuzione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bimodale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del dataset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rivela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maggiori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difficoltà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sulle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lesioni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ad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intensità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lang="it-IT" sz="1200" b="0" i="0" u="none" dirty="0">
                <a:solidFill>
                  <a:srgbClr val="334155"/>
                </a:solidFill>
                <a:latin typeface="Inter"/>
              </a:rPr>
              <a:t>intermedia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75285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 dirty="0">
                <a:solidFill>
                  <a:srgbClr val="334155"/>
                </a:solidFill>
                <a:latin typeface="Inter"/>
              </a:rPr>
              <a:t>Visual Mismatch &amp; Contorni </a:t>
            </a:r>
            <a:r>
              <a:rPr sz="1200" b="1" i="0" u="none" dirty="0" err="1">
                <a:solidFill>
                  <a:srgbClr val="334155"/>
                </a:solidFill>
                <a:latin typeface="Inter"/>
              </a:rPr>
              <a:t>Sfumati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: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Lesioni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con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margini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poco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definiti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portano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l'agente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a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tentennare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tra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espansione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 e </a:t>
            </a:r>
            <a:r>
              <a:rPr sz="1200" b="0" i="0" u="none" dirty="0" err="1">
                <a:solidFill>
                  <a:srgbClr val="334155"/>
                </a:solidFill>
                <a:latin typeface="Inter"/>
              </a:rPr>
              <a:t>restringimento</a:t>
            </a:r>
            <a:r>
              <a:rPr sz="12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00262"/>
            <a:ext cx="17145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38462"/>
            <a:ext cx="17145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776662"/>
            <a:ext cx="190500" cy="18097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ECDD7AD8-EC53-C68D-48D5-4900E03FF7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1543050"/>
            <a:ext cx="2133600" cy="2133600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7CBDA9B5-9959-A066-5C4C-5C969F69D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1975" y="4114800"/>
            <a:ext cx="2133600" cy="2133600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38E37F20-5EA3-D940-3499-C8955AA78D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2600" y="1571625"/>
            <a:ext cx="21336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26481"/>
            <a:ext cx="5334000" cy="31194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326481"/>
            <a:ext cx="5334000" cy="31194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476250"/>
            <a:ext cx="116014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sz="2700" b="1" i="0" u="none">
                <a:solidFill>
                  <a:srgbClr val="0F172A"/>
                </a:solidFill>
                <a:latin typeface="Poppins"/>
              </a:rPr>
              <a:t>Conclusioni e Sviluppi Futuri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5825" y="2640806"/>
            <a:ext cx="4940617" cy="314325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Punti di Forza del Progetto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825" y="2640806"/>
            <a:ext cx="4940617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1E40AF"/>
                </a:solidFill>
                <a:latin typeface="Poppins SemiBold"/>
              </a:rPr>
              <a:t>Sviluppi Futuri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" y="2688431"/>
            <a:ext cx="161925" cy="209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1075" y="3086100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3088481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Integrazione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con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successo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di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DQfD</a:t>
            </a:r>
            <a:r>
              <a:rPr sz="1275" b="1" i="0" u="none" dirty="0">
                <a:solidFill>
                  <a:srgbClr val="334155"/>
                </a:solidFill>
                <a:latin typeface="Inter"/>
              </a:rPr>
              <a:t>, PER,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CIoU</a:t>
            </a:r>
            <a:r>
              <a:rPr sz="1275" b="1" i="0" u="none" dirty="0">
                <a:solidFill>
                  <a:srgbClr val="334155"/>
                </a:solidFill>
                <a:latin typeface="Inter"/>
              </a:rPr>
              <a:t> e Dueling Double DQN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in un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dominio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medicale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a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dati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limitati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075" y="3686175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688556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Architettura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computazionalmente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efficiente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grazie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Inter"/>
              </a:rPr>
              <a:t>all'estrazione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 di feature visive via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RoI</a:t>
            </a:r>
            <a:r>
              <a:rPr sz="1275" b="1" i="0" u="none" dirty="0">
                <a:solidFill>
                  <a:srgbClr val="334155"/>
                </a:solidFill>
                <a:latin typeface="Inter"/>
              </a:rPr>
              <a:t> Align </a:t>
            </a:r>
            <a:r>
              <a:rPr sz="1275" b="1" i="0" u="none" dirty="0" err="1">
                <a:solidFill>
                  <a:srgbClr val="334155"/>
                </a:solidFill>
                <a:latin typeface="Inter"/>
              </a:rPr>
              <a:t>unificato</a:t>
            </a:r>
            <a:r>
              <a:rPr sz="1275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4286250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4288631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L'Imitation Learning guidato da oracolo lookahead ha velocizzato radicalmente la convergenza iniziale.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825" y="2688431"/>
            <a:ext cx="20955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6075" y="3086100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1325" y="3088481"/>
            <a:ext cx="4514850" cy="728662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Estensione a Volumi 3D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Estendere lo spazio delle azioni a Bounding Box 3D su sequenze volumetriche complete (MRI multi-fetta).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6075" y="3929062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1325" y="3931443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Rilevamento Multi-Lesione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Consentire all'agente di identificare e tracciare molteplici focolai tumorali disgiunti.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6075" y="4529137"/>
            <a:ext cx="95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1325" y="4531518"/>
            <a:ext cx="4514850" cy="4857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334155"/>
                </a:solidFill>
                <a:latin typeface="Inter"/>
              </a:rPr>
              <a:t>Fine-Tuning della Backbone</a:t>
            </a:r>
            <a:r>
              <a:rPr sz="1275" b="0" i="0" u="none">
                <a:solidFill>
                  <a:srgbClr val="334155"/>
                </a:solidFill>
                <a:latin typeface="Inter"/>
              </a:rPr>
              <a:t>: Sblocco progressivo degli ultimi strati convoluzionali di ResNet18.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11601450" cy="609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it-IT" sz="6000" b="1" i="0" u="none" dirty="0">
                <a:solidFill>
                  <a:srgbClr val="0F172A"/>
                </a:solidFill>
                <a:latin typeface="Poppins"/>
              </a:rPr>
              <a:t>Fine</a:t>
            </a:r>
            <a:endParaRPr sz="6000" b="1" i="0" u="none" dirty="0">
              <a:solidFill>
                <a:srgbClr val="0F172A"/>
              </a:solidFill>
              <a:latin typeface="Poppin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71500" y="1181100"/>
            <a:ext cx="47625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82CA040-E045-21CA-ED16-B4B67719D50F}"/>
              </a:ext>
            </a:extLst>
          </p:cNvPr>
          <p:cNvSpPr txBox="1"/>
          <p:nvPr/>
        </p:nvSpPr>
        <p:spPr>
          <a:xfrm>
            <a:off x="470916" y="1438394"/>
            <a:ext cx="61584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334155"/>
                </a:solidFill>
                <a:latin typeface="Inter"/>
              </a:rPr>
              <a:t>Codice disponibile a:</a:t>
            </a:r>
          </a:p>
          <a:p>
            <a:r>
              <a:rPr lang="it-IT" sz="1600" dirty="0">
                <a:solidFill>
                  <a:srgbClr val="334155"/>
                </a:solidFill>
                <a:latin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https://github.com/LorenzoPinaUnimib/segmentation_rl</a:t>
            </a:r>
            <a:endParaRPr lang="it-IT" sz="1600" dirty="0">
              <a:solidFill>
                <a:srgbClr val="334155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1248</Words>
  <Application>Microsoft Macintosh PowerPoint</Application>
  <PresentationFormat>Widescreen</PresentationFormat>
  <Paragraphs>122</Paragraphs>
  <Slides>13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0" baseType="lpstr">
      <vt:lpstr>Arial</vt:lpstr>
      <vt:lpstr>Calibri</vt:lpstr>
      <vt:lpstr>Inter</vt:lpstr>
      <vt:lpstr>Poppins</vt:lpstr>
      <vt:lpstr>Poppins SemiBold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Lorenzo</dc:creator>
  <cp:keywords/>
  <dc:description>generated using python-pptx</dc:description>
  <cp:lastModifiedBy>Simone Rancati</cp:lastModifiedBy>
  <cp:revision>4</cp:revision>
  <dcterms:created xsi:type="dcterms:W3CDTF">2013-01-27T09:14:16Z</dcterms:created>
  <dcterms:modified xsi:type="dcterms:W3CDTF">2026-07-23T20:00:41Z</dcterms:modified>
  <cp:category/>
</cp:coreProperties>
</file>