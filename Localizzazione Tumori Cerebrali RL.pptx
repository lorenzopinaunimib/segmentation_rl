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gif"/><Relationship Id="rId3" Type="http://schemas.openxmlformats.org/officeDocument/2006/relationships/image" Target="../media/image49.png"/><Relationship Id="rId7" Type="http://schemas.openxmlformats.org/officeDocument/2006/relationships/image" Target="../media/image53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gif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renzoPinaUnimib/segmentation_r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3" y="1804094"/>
            <a:ext cx="3148012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2146994"/>
            <a:ext cx="10001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oppins"/>
              </a:rPr>
              <a:t>Localizzazione di Tumori Cerebrali da MRI mediante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625155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Apprendimento Decisionale Sequenziale Guidato da Imitation Learning con Oracolo Lookahead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4577655"/>
            <a:ext cx="48958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3350" y="4701480"/>
            <a:ext cx="1857375" cy="2286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Pina Lorenzo (894396)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1225" y="4701480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9350" y="4701480"/>
            <a:ext cx="2019300" cy="2286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Rancati Simone (900052)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350" y="473958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473958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037"/>
            <a:ext cx="5334000" cy="3362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334000" cy="3362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Inquadramento del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2519362"/>
            <a:ext cx="4940617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Limiti degli Approcci Classici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519362"/>
            <a:ext cx="4940617" cy="314325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Paradigm Shift: RL Sequenziale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56698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29646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967037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L'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Object Detection supervisionato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richiede vasti dataset annotati e fornisce predizioni in un singolo forward pass, agendo come una "scatola nera".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80761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10000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Non rispecchia il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processo mentale del radiologo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, che esplora l'immagine affinando iterativamente l'attenzione sulla lesione.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65058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652962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Particolarmente critico nel dominio medicale dove i dati etichettati sono spesso limitati.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566987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6075" y="29646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2967037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La localizzazione è formulata come un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Markov Decision Process (MDP)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35647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567112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Un agente osserva l'immagine e la box corrente e sceglie azioni elementari per trasformare la box verso il target.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16480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167187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Consente di integrare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Imitation Learning (DQfD)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 reward dense per addestramenti campionariamente efficienti.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2662"/>
            <a:ext cx="3492549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52662"/>
            <a:ext cx="3492549" cy="3267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52662"/>
            <a:ext cx="3492549" cy="3267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Dataset &amp; Analisi delle Lesioni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47937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Brain Tumor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95712"/>
            <a:ext cx="2901999" cy="1073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2.145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scansioni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MRI 2D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suddivise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in: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Train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1.501 (~70%)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Val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429 (~20%)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Test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215 (~10%)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Risoluzione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uniforme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224 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×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224 × 3 pixels.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4793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450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Distribuzione e Dimensioni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795712"/>
            <a:ext cx="29019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Area media occupata: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2.9% dell'immagine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(lesioni molto piccole).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Distribuzione dell'intensità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bimodale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(scura 0.0–0.3 e chiara 0.7–0.9).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Nessuno shift sistematico tra train, val e test.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47937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33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Variabilità Geometrica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3374" y="3795712"/>
            <a:ext cx="29019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Elevata asimmetria nell'</a:t>
            </a:r>
            <a:r>
              <a:rPr sz="1125" b="0" i="1" u="none">
                <a:solidFill>
                  <a:srgbClr val="475569"/>
                </a:solidFill>
                <a:latin typeface="Inter"/>
              </a:rPr>
              <a:t>aspect ratio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(forme allungate con coda &gt; 3).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Geometrie irregolari e disomogenee.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Lesioni tendenzialmente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decentrate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rispetto all'origine dell'immagine.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681287"/>
            <a:ext cx="2190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4137" y="2681287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6724" y="2681287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2662"/>
            <a:ext cx="3492549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52662"/>
            <a:ext cx="3492549" cy="3267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52662"/>
            <a:ext cx="3492549" cy="3267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Formulazione dell'Ambiente MDP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47937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Spazio degli Stati 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95712"/>
            <a:ext cx="29019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Composto da: Crop visivo dalla feature map via RoI Align, storia delle ultime 10 azioni, coordinate normalizzate, progresso temporale e feature di bias spaziale.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4793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450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Spazio delle Azioni 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795712"/>
            <a:ext cx="29019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9 Azioni Discrete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: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Traslazione (Dx, Sx, Su, Giù)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Ridimensionamento (Stringi/Espandi H/V)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Trigger di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STOP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Passo dinamico pari al 10% della box.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47937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33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Dinamica dell'Ambiente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3374" y="3795712"/>
            <a:ext cx="29019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Transizioni deterministiche. Inizio dall'intera immagine. Termina con l'azione di STOP o al raggiungimento del limite massimo di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50 step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(troncamento).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681287"/>
            <a:ext cx="2762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087" y="2681287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1011" y="2681287"/>
            <a:ext cx="2190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0" y="1219375"/>
            <a:ext cx="5334000" cy="4657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Ingegneria dell'Osservazione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6300" y="207645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RoI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Align con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Contesto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: Estrae le feature 7 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x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7 della box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corrente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dalla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feature map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globale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ResNet18 (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calcolata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1 sola volta per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episodio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)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aggiungendo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16px di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margine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146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Storia delle Azioni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: Vettore one-hot delle ultime 10 azioni (10 × 9 = 90 dimensioni) per conferire memoria all'agente.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242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Feature di Bias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Spaziale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(6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val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Misurano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dove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concentra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l'energia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dell'attivazione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(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bilanciamento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L/R e U/D,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baricentro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dispersione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33850"/>
            <a:ext cx="5029200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Coordinate e Progresso (5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val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: Coordinate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normalizzate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 ( x</a:t>
            </a:r>
            <a:r>
              <a:rPr lang="it-IT" sz="1200" b="0" i="0" u="none" baseline="-25000" dirty="0">
                <a:solidFill>
                  <a:srgbClr val="334155"/>
                </a:solidFill>
                <a:latin typeface="Inter"/>
              </a:rPr>
              <a:t>1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, y</a:t>
            </a:r>
            <a:r>
              <a:rPr lang="it-IT" sz="1200" b="0" i="0" u="none" baseline="-25000" dirty="0">
                <a:solidFill>
                  <a:srgbClr val="334155"/>
                </a:solidFill>
                <a:latin typeface="Inter"/>
              </a:rPr>
              <a:t>1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, x</a:t>
            </a:r>
            <a:r>
              <a:rPr lang="it-IT" sz="1200" b="0" i="0" u="none" baseline="-25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, y</a:t>
            </a:r>
            <a:r>
              <a:rPr lang="it-IT" sz="1200" b="0" i="0" u="none" baseline="-25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frazione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di step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trascorsi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 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0026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3846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48062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5766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3720"/>
            <a:ext cx="5334000" cy="34848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43720"/>
            <a:ext cx="5334000" cy="3484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325" y="3760291"/>
            <a:ext cx="4514850" cy="5966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Architettura: Attention &amp; Dueling DQN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5825" y="2458045"/>
            <a:ext cx="4940617" cy="3143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Feature Extractor &amp; Pooling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458045"/>
            <a:ext cx="4940617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Dueling Double DQN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505670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1075" y="290333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905720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Backbone ResNet18 (Congelata)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Utilizzata come estrattore di caratteristiche senza aggiornamento dei gradienti per prevenire overfitting.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74630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748682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SpatialAttentionPool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Combina il Global Average Pooling con una mappa di attenzione calcolata via convoluzione 1 × 1 + Softmax spaziale.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58926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91645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Invia alla testa decisionale un vettore di embedding visivo di dimensione 512.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505670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6075" y="290333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2905720"/>
            <a:ext cx="4514850" cy="46955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Dueling Architecture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Separa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stima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valore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dello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stato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V(s)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dalla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stima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vantaggio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ciascuna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azione 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A(</a:t>
            </a:r>
            <a:r>
              <a:rPr lang="it-IT" sz="1275" b="0" i="0" u="none" dirty="0" err="1">
                <a:solidFill>
                  <a:srgbClr val="334155"/>
                </a:solidFill>
                <a:latin typeface="Inter"/>
              </a:rPr>
              <a:t>s,a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46886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471243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Double DQN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Disaccoppia la selezione dell'azione (policy network) dalla valutazione (target network) per eliminare la sovrastima dei Q-value.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9478" y="3893641"/>
            <a:ext cx="4058394" cy="329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9233"/>
            <a:ext cx="5334000" cy="33739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9233"/>
            <a:ext cx="5334000" cy="3373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Reward Shaping &amp; Metrica CIoU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2513558"/>
            <a:ext cx="4940617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Perché la Complete IoU (CIoU)?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513558"/>
            <a:ext cx="4940617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Struttura della Funzione di Reward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561183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295885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961233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L'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IoU standard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ha gradiente nullo quando le box non si sovrappongono (IoU = 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55892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561308"/>
            <a:ext cx="4514850" cy="95686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La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CIoU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estende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l'IoU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considerando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tre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fattori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geometrici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dirty="0"/>
              <a:t>
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1.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Sovrapposizione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dell'area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         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(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) </a:t>
            </a:r>
            <a:r>
              <a:rPr dirty="0"/>
              <a:t>
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2.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Distanza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centri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delle </a:t>
            </a:r>
            <a:r>
              <a:rPr sz="1275" dirty="0">
                <a:solidFill>
                  <a:srgbClr val="334155"/>
                </a:solidFill>
                <a:latin typeface="Inter"/>
              </a:rPr>
              <a:t>box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    (</a:t>
            </a:r>
            <a:r>
              <a:rPr lang="el-GR" sz="1275" dirty="0">
                <a:solidFill>
                  <a:srgbClr val="334155"/>
                </a:solidFill>
                <a:latin typeface="Inter"/>
              </a:rPr>
              <a:t>ρ</a:t>
            </a:r>
            <a:r>
              <a:rPr lang="it-IT" sz="1275" baseline="30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/c</a:t>
            </a:r>
            <a:r>
              <a:rPr lang="it-IT" sz="1275" baseline="30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)</a:t>
            </a:r>
            <a:r>
              <a:rPr dirty="0"/>
              <a:t>
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3.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Incoerenza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dell'aspect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ratio  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     (</a:t>
            </a:r>
            <a:r>
              <a:rPr lang="el-GR" sz="1275" b="0" i="0" u="none" dirty="0">
                <a:solidFill>
                  <a:srgbClr val="334155"/>
                </a:solidFill>
                <a:latin typeface="Inter"/>
              </a:rPr>
              <a:t>α</a:t>
            </a:r>
            <a:r>
              <a:rPr lang="it-IT" sz="1275" dirty="0">
                <a:solidFill>
                  <a:srgbClr val="334155"/>
                </a:solidFill>
                <a:latin typeface="Inter"/>
                <a:cs typeface="Times New Roman" panose="02020603050405020304" pitchFamily="18" charset="0"/>
              </a:rPr>
              <a:t>υ)</a:t>
            </a:r>
            <a:endParaRPr sz="1275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075" y="465638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658766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Fornisce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un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segnale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denso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continuo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anche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 grande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distanza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dal target.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561183"/>
            <a:ext cx="1619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6075" y="295885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2961233"/>
            <a:ext cx="4514850" cy="22589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Reward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Incrementale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  </a:t>
            </a:r>
            <a:r>
              <a:rPr lang="it-IT" sz="1275" b="0" i="0" u="none" dirty="0" err="1">
                <a:solidFill>
                  <a:srgbClr val="334155"/>
                </a:solidFill>
                <a:latin typeface="Inter"/>
              </a:rPr>
              <a:t>r</a:t>
            </a:r>
            <a:r>
              <a:rPr lang="it-IT" sz="1275" b="0" i="0" u="none" baseline="30000" dirty="0" err="1">
                <a:solidFill>
                  <a:srgbClr val="334155"/>
                </a:solidFill>
                <a:latin typeface="Inter"/>
              </a:rPr>
              <a:t>move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 = 5 </a:t>
            </a:r>
            <a:r>
              <a:rPr lang="it-IT" sz="1275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˖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l-GR" sz="1275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it-IT" sz="1275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lang="it-IT" sz="1275" b="0" i="0" u="none" baseline="-25000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0647" y="345807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452974"/>
            <a:ext cx="4514850" cy="22589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Penalità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Temporale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lang="it-IT" sz="1275" b="0" i="0" u="none" dirty="0" err="1">
                <a:solidFill>
                  <a:srgbClr val="334155"/>
                </a:solidFill>
                <a:latin typeface="Inter"/>
              </a:rPr>
              <a:t>r</a:t>
            </a:r>
            <a:r>
              <a:rPr lang="it-IT" sz="1275" b="0" i="0" u="none" baseline="30000" dirty="0" err="1">
                <a:solidFill>
                  <a:srgbClr val="334155"/>
                </a:solidFill>
                <a:latin typeface="Inter"/>
              </a:rPr>
              <a:t>step</a:t>
            </a:r>
            <a:r>
              <a:rPr lang="it-IT" sz="1275" b="0" i="0" u="none" dirty="0">
                <a:solidFill>
                  <a:srgbClr val="334155"/>
                </a:solidFill>
                <a:latin typeface="Inter"/>
              </a:rPr>
              <a:t> = -0,02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 per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incentivare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percorsi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brevi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392772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3930104"/>
            <a:ext cx="4514850" cy="46955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Bonus/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Penalità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di STOP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: Premio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positivo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se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≥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τ</a:t>
            </a:r>
            <a:r>
              <a:rPr sz="1275" b="0" i="0" u="none" baseline="-25000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(0.6),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penalità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severa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per stop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prematuri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troncamento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454818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4550568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Scaling Adattivo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Normalizzazione online tramite media e varianza mobile.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6240"/>
            <a:ext cx="2845444" cy="31597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694" y="2306240"/>
            <a:ext cx="4786610" cy="31597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055" y="2306240"/>
            <a:ext cx="2845444" cy="31597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7969" y="4541341"/>
            <a:ext cx="4196060" cy="515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Imitation Learning &amp; Stabilizzazione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60151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3306365"/>
            <a:ext cx="236763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Lookahead 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849290"/>
            <a:ext cx="2254894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Oracolo con ricerca ad albero (profondità 2) che guida l'agente nelle prime fasi simulando le conseguenze delle azioni per raggiungere l'80% di IoU.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7969" y="260151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7969" y="3306365"/>
            <a:ext cx="44058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DQfD Margin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7969" y="3849290"/>
            <a:ext cx="4196060" cy="43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Forza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Q-value delle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azioni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suggerite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dall'oracolo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it-IT" sz="1125" b="0" i="0" u="none" dirty="0" err="1">
                <a:solidFill>
                  <a:srgbClr val="475569"/>
                </a:solidFill>
                <a:latin typeface="Inter"/>
              </a:rPr>
              <a:t>a</a:t>
            </a:r>
            <a:r>
              <a:rPr lang="it-IT" sz="1125" b="0" i="0" u="none" baseline="-25000" dirty="0" err="1">
                <a:solidFill>
                  <a:srgbClr val="475569"/>
                </a:solidFill>
                <a:latin typeface="Inter"/>
              </a:rPr>
              <a:t>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 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superare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le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altre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di un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margine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1" u="none" dirty="0">
                <a:solidFill>
                  <a:srgbClr val="475569"/>
                </a:solidFill>
                <a:latin typeface="Inter"/>
              </a:rPr>
              <a:t>m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= 0.8: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0330" y="2601515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70330" y="3306365"/>
            <a:ext cx="236763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PER &amp; N-Step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330" y="3849290"/>
            <a:ext cx="2254894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Prioritized Experience Replay (α = 0.6, β: 0.4 → 1.0) per campionare gli errori TD più alti.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Ritorni a 3-step per propagazione rapida dei reward.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837" y="2734865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7982" y="2734865"/>
            <a:ext cx="3143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8469" y="4674691"/>
            <a:ext cx="3815060" cy="24839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7967" y="2734865"/>
            <a:ext cx="2190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Setup Sperimentale e Iperparametri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149078"/>
          <a:ext cx="11029949" cy="3474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Parametro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Valore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Descrizione / Ruolo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Epoche &amp; Batch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400 epoche / 64 episodi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Simulazione vettorizzata in parallelo su GPU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Target IoU (τIoU)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0.6 (Oracolo: 0.8)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Soglia di successo per la terminazione con STOP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Politica ε-Greedy &amp; Oracolo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1.0 → 0.1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Decadimento lineare guidato nella prima metà del training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Learning Rate &amp; Ottimizzatore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1e-4 (Adam, Weight Decay 1e-4)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Aggiornamento limitato alla sola testa decisionale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Replay Buffer &amp; 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100.000 transizioni / α = 0.6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Memoria degli embedding visivi + Importance Sampling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Orizzonte N-step &amp; Target Soft Update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N = 3 steps / τ = 0.01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Propagazione rapida dei reward e stabilità del bootstrap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3120628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56000" y="3120628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19900" y="3120628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642121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56000" y="3642121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19900" y="3642121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132659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56000" y="4132659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9900" y="4132659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623196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56000" y="4623196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9900" y="4623196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5113734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56000" y="5113734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19900" y="5113734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5604271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56000" y="5604271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19900" y="5604271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11049000" cy="499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Risultati Sperimentali (Test 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605337"/>
            <a:ext cx="11049000" cy="7143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48212"/>
            <a:ext cx="1066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Analisi delle Prestazioni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: Valutazione condotta su 215 immagini mai viste. L'agente dimostra di aver appreso una solida politica di arresto autonomo (95.3% dei casi), riducendo gli step medi da 50 a circa 25 per episodio e raggiungendo un IoU medio del 58% negli arresti spontanei.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605337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Analisi dei Fallimenti &amp; GradCAM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6300" y="207645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Capacità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Generalizzazione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L'agente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localizza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correttamente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lesioni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varie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dimensioni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adattando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il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passo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restringimento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in modo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fluido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14650"/>
            <a:ext cx="5029200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Criticità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nei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Tumori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00" b="1" i="0" u="none" dirty="0">
                <a:solidFill>
                  <a:srgbClr val="334155"/>
                </a:solidFill>
                <a:latin typeface="Inter"/>
              </a:rPr>
              <a:t>grigi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: La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distribuzione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bimodale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del dataset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rivela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maggiori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difficoltà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sulle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lesioni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ad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intensità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00" b="0" i="0" u="none" dirty="0">
                <a:solidFill>
                  <a:srgbClr val="334155"/>
                </a:solidFill>
                <a:latin typeface="Inter"/>
              </a:rPr>
              <a:t>intermedia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528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Visual Mismatch &amp; Contorni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Sfumati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Lesioni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con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margini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poco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definiti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portano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l'agente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tentennare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tra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espansione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restringimento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026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3846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76662"/>
            <a:ext cx="190500" cy="18097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CDD7AD8-EC53-C68D-48D5-4900E03FF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1543050"/>
            <a:ext cx="2133600" cy="213360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CBDA9B5-9959-A066-5C4C-5C969F69D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1975" y="4114800"/>
            <a:ext cx="2133600" cy="213360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38E37F20-5EA3-D940-3499-C8955AA78D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1571625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6481"/>
            <a:ext cx="5334000" cy="3119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26481"/>
            <a:ext cx="5334000" cy="311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Conclusioni e Sviluppi Futuri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2640806"/>
            <a:ext cx="4940617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Punti di Forza del Progetto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640806"/>
            <a:ext cx="4940617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Sviluppi Futuri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88431"/>
            <a:ext cx="16192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308610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088481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Integrazione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con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successo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DQfD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, PER,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CIoU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e Dueling Double DQN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in un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dominio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medicale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dati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limitati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6861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688556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Architettura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computazionalmente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efficiente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grazie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all'estrazione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di feature visive via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RoI</a:t>
            </a:r>
            <a:r>
              <a:rPr sz="1275" b="1" i="0" u="none" dirty="0">
                <a:solidFill>
                  <a:srgbClr val="334155"/>
                </a:solidFill>
                <a:latin typeface="Inter"/>
              </a:rPr>
              <a:t> Align </a:t>
            </a:r>
            <a:r>
              <a:rPr sz="1275" b="1" i="0" u="none" dirty="0" err="1">
                <a:solidFill>
                  <a:srgbClr val="334155"/>
                </a:solidFill>
                <a:latin typeface="Inter"/>
              </a:rPr>
              <a:t>unificato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28625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288631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L'Imitation Learning guidato da oracolo lookahead ha velocizzato radicalmente la convergenza iniziale.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688431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6075" y="308610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3088481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Estensione a Volumi 3D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Estendere lo spazio delle azioni a Bounding Box 3D su sequenze volumetriche complete (MRI multi-fetta).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392906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931443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Rilevamento Multi-Lesione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Consentire all'agente di identificare e tracciare molteplici focolai tumorali disgiunti.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52913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531518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Fine-Tuning della Backbone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: Sblocco progressivo degli ultimi strati convoluzionali di ResNet18.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60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it-IT" sz="6000" b="1" i="0" u="none" dirty="0">
                <a:solidFill>
                  <a:srgbClr val="0F172A"/>
                </a:solidFill>
                <a:latin typeface="Poppins"/>
              </a:rPr>
              <a:t>Fine</a:t>
            </a:r>
            <a:endParaRPr sz="60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82CA040-E045-21CA-ED16-B4B67719D50F}"/>
              </a:ext>
            </a:extLst>
          </p:cNvPr>
          <p:cNvSpPr txBox="1"/>
          <p:nvPr/>
        </p:nvSpPr>
        <p:spPr>
          <a:xfrm>
            <a:off x="470916" y="1438394"/>
            <a:ext cx="6158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334155"/>
                </a:solidFill>
                <a:latin typeface="Inter"/>
              </a:rPr>
              <a:t>Codice disponibile a:</a:t>
            </a:r>
          </a:p>
          <a:p>
            <a:r>
              <a:rPr lang="it-IT" sz="1600" dirty="0">
                <a:solidFill>
                  <a:srgbClr val="334155"/>
                </a:solidFill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https://github.com/LorenzoPinaUnimib/segmentation_rl</a:t>
            </a:r>
            <a:endParaRPr lang="it-IT" sz="1600" dirty="0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1239</Words>
  <Application>Microsoft Office PowerPoint</Application>
  <PresentationFormat>Widescreen</PresentationFormat>
  <Paragraphs>122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Poppins</vt:lpstr>
      <vt:lpstr>Poppins SemiBold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Lorenzo</dc:creator>
  <cp:keywords/>
  <dc:description>generated using python-pptx</dc:description>
  <cp:lastModifiedBy>l.pina4@campus.unimib.it</cp:lastModifiedBy>
  <cp:revision>2</cp:revision>
  <dcterms:created xsi:type="dcterms:W3CDTF">2013-01-27T09:14:16Z</dcterms:created>
  <dcterms:modified xsi:type="dcterms:W3CDTF">2026-07-23T19:27:29Z</dcterms:modified>
  <cp:category/>
</cp:coreProperties>
</file>