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75"/>
    <p:restoredTop sz="94703"/>
  </p:normalViewPr>
  <p:slideViewPr>
    <p:cSldViewPr snapToGrid="0" snapToObjects="1">
      <p:cViewPr varScale="1">
        <p:scale>
          <a:sx n="128" d="100"/>
          <a:sy n="128" d="100"/>
        </p:scale>
        <p:origin x="8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11" Type="http://schemas.openxmlformats.org/officeDocument/2006/relationships/image" Target="../media/image21.png"/><Relationship Id="rId5" Type="http://schemas.openxmlformats.org/officeDocument/2006/relationships/image" Target="../media/image12.png"/><Relationship Id="rId10" Type="http://schemas.openxmlformats.org/officeDocument/2006/relationships/image" Target="../media/image20.png"/><Relationship Id="rId4" Type="http://schemas.openxmlformats.org/officeDocument/2006/relationships/image" Target="../media/image11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44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gif"/><Relationship Id="rId3" Type="http://schemas.openxmlformats.org/officeDocument/2006/relationships/image" Target="../media/image46.png"/><Relationship Id="rId7" Type="http://schemas.openxmlformats.org/officeDocument/2006/relationships/image" Target="../media/image50.gi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gif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orenzoPinaUnimib/segmentation_rl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993" y="1744460"/>
            <a:ext cx="3148012" cy="247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5375" y="2146994"/>
            <a:ext cx="10001250" cy="16549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320"/>
              </a:lnSpc>
            </a:pPr>
            <a:r>
              <a:rPr sz="3600" b="1" i="0" u="none" dirty="0" err="1">
                <a:solidFill>
                  <a:srgbClr val="FFFFFF"/>
                </a:solidFill>
                <a:latin typeface="Poppins"/>
              </a:rPr>
              <a:t>Localizzazione</a:t>
            </a:r>
            <a:r>
              <a:rPr sz="3600" b="1" i="0" u="none" dirty="0">
                <a:solidFill>
                  <a:srgbClr val="FFFFFF"/>
                </a:solidFill>
                <a:latin typeface="Poppins"/>
              </a:rPr>
              <a:t> di </a:t>
            </a:r>
            <a:r>
              <a:rPr sz="3600" b="1" i="0" u="none" dirty="0" err="1">
                <a:solidFill>
                  <a:srgbClr val="FFFFFF"/>
                </a:solidFill>
                <a:latin typeface="Poppins"/>
              </a:rPr>
              <a:t>Tumori</a:t>
            </a:r>
            <a:r>
              <a:rPr sz="3600" b="1" i="0" u="none" dirty="0">
                <a:solidFill>
                  <a:srgbClr val="FFFFFF"/>
                </a:solidFill>
                <a:latin typeface="Poppins"/>
              </a:rPr>
              <a:t> </a:t>
            </a:r>
            <a:r>
              <a:rPr sz="3600" b="1" i="0" u="none" dirty="0" err="1">
                <a:solidFill>
                  <a:srgbClr val="FFFFFF"/>
                </a:solidFill>
                <a:latin typeface="Poppins"/>
              </a:rPr>
              <a:t>Cerebrali</a:t>
            </a:r>
            <a:r>
              <a:rPr sz="3600" b="1" i="0" u="none" dirty="0">
                <a:solidFill>
                  <a:srgbClr val="FFFFFF"/>
                </a:solidFill>
                <a:latin typeface="Poppins"/>
              </a:rPr>
              <a:t> da MRI </a:t>
            </a:r>
            <a:r>
              <a:rPr sz="3600" b="1" i="0" u="none" dirty="0" err="1">
                <a:solidFill>
                  <a:srgbClr val="FFFFFF"/>
                </a:solidFill>
                <a:latin typeface="Poppins"/>
              </a:rPr>
              <a:t>mediante</a:t>
            </a:r>
            <a:r>
              <a:rPr sz="3600" b="1" i="0" u="none" dirty="0">
                <a:solidFill>
                  <a:srgbClr val="FFFFFF"/>
                </a:solidFill>
                <a:latin typeface="Poppins"/>
              </a:rPr>
              <a:t> Reinforcement Learning</a:t>
            </a:r>
            <a:r>
              <a:rPr lang="it-IT" sz="3600" b="1" i="0" u="none" dirty="0">
                <a:solidFill>
                  <a:srgbClr val="FFFFFF"/>
                </a:solidFill>
                <a:latin typeface="Poppins"/>
              </a:rPr>
              <a:t> con </a:t>
            </a:r>
            <a:r>
              <a:rPr lang="it-IT" sz="3600" b="1" i="0" u="none" dirty="0" err="1">
                <a:solidFill>
                  <a:srgbClr val="FFFFFF"/>
                </a:solidFill>
                <a:latin typeface="Poppins"/>
              </a:rPr>
              <a:t>Imitation</a:t>
            </a:r>
            <a:r>
              <a:rPr lang="it-IT" sz="3600" b="1" i="0" u="none" dirty="0">
                <a:solidFill>
                  <a:srgbClr val="FFFFFF"/>
                </a:solidFill>
                <a:latin typeface="Poppins"/>
              </a:rPr>
              <a:t> Learning guidato</a:t>
            </a:r>
            <a:endParaRPr sz="3600" b="1" i="0" u="none" dirty="0">
              <a:solidFill>
                <a:srgbClr val="FFFFFF"/>
              </a:solidFill>
              <a:latin typeface="Poppi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047875" y="3929952"/>
            <a:ext cx="8096250" cy="271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Apprendimento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lang="it-IT" sz="1500" dirty="0">
                <a:solidFill>
                  <a:srgbClr val="94A3B8"/>
                </a:solidFill>
                <a:latin typeface="Inter"/>
              </a:rPr>
              <a:t>d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ecisionale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lang="it-IT" sz="1500" dirty="0">
                <a:solidFill>
                  <a:srgbClr val="94A3B8"/>
                </a:solidFill>
                <a:latin typeface="Inter"/>
              </a:rPr>
              <a:t>s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equenziale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lang="it-IT" sz="1500" dirty="0">
                <a:solidFill>
                  <a:srgbClr val="94A3B8"/>
                </a:solidFill>
                <a:latin typeface="Inter"/>
              </a:rPr>
              <a:t>g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uidato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da Imitation Learning con </a:t>
            </a:r>
            <a:r>
              <a:rPr lang="it-IT" sz="1500" dirty="0">
                <a:solidFill>
                  <a:srgbClr val="94A3B8"/>
                </a:solidFill>
                <a:latin typeface="Inter"/>
              </a:rPr>
              <a:t>o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racolo</a:t>
            </a:r>
            <a:r>
              <a:rPr sz="1500" b="0" i="0" u="none" dirty="0">
                <a:solidFill>
                  <a:srgbClr val="94A3B8"/>
                </a:solidFill>
                <a:latin typeface="Inter"/>
              </a:rPr>
              <a:t> </a:t>
            </a:r>
            <a:r>
              <a:rPr lang="it-IT" sz="1500" dirty="0">
                <a:solidFill>
                  <a:srgbClr val="94A3B8"/>
                </a:solidFill>
                <a:latin typeface="Inter"/>
              </a:rPr>
              <a:t>l</a:t>
            </a:r>
            <a:r>
              <a:rPr sz="1500" b="0" i="0" u="none" dirty="0" err="1">
                <a:solidFill>
                  <a:srgbClr val="94A3B8"/>
                </a:solidFill>
                <a:latin typeface="Inter"/>
              </a:rPr>
              <a:t>ookahead</a:t>
            </a:r>
            <a:endParaRPr sz="1500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075" y="4577655"/>
            <a:ext cx="48958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943350" y="4701480"/>
            <a:ext cx="1857375" cy="228600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 dirty="0">
                <a:solidFill>
                  <a:srgbClr val="CBD5E1"/>
                </a:solidFill>
                <a:latin typeface="Inter"/>
              </a:rPr>
              <a:t>Pina Lorenzo (894396)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91225" y="4701480"/>
            <a:ext cx="47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|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29350" y="4701480"/>
            <a:ext cx="2019300" cy="228600"/>
          </a:xfrm>
          <a:prstGeom prst="rect">
            <a:avLst/>
          </a:prstGeom>
          <a:noFill/>
        </p:spPr>
        <p:txBody>
          <a:bodyPr wrap="square" lIns="13335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Rancati Simone (900052)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3350" y="4739580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4739580"/>
            <a:ext cx="13335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05037"/>
            <a:ext cx="5334000" cy="33623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05037"/>
            <a:ext cx="5334000" cy="33623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498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 dirty="0" err="1">
                <a:solidFill>
                  <a:srgbClr val="0F172A"/>
                </a:solidFill>
                <a:latin typeface="Poppins"/>
              </a:rPr>
              <a:t>Inquadramento</a:t>
            </a:r>
            <a:r>
              <a:rPr sz="2700" b="1" i="0" u="none" dirty="0">
                <a:solidFill>
                  <a:srgbClr val="0F172A"/>
                </a:solidFill>
                <a:latin typeface="Poppins"/>
              </a:rPr>
              <a:t> del </a:t>
            </a:r>
            <a:r>
              <a:rPr lang="it-IT" sz="2700" b="1" i="0" u="none" dirty="0">
                <a:solidFill>
                  <a:srgbClr val="0F172A"/>
                </a:solidFill>
                <a:latin typeface="Poppins"/>
              </a:rPr>
              <a:t>P</a:t>
            </a:r>
            <a:r>
              <a:rPr sz="2700" b="1" i="0" u="none" dirty="0" err="1">
                <a:solidFill>
                  <a:srgbClr val="0F172A"/>
                </a:solidFill>
                <a:latin typeface="Poppins"/>
              </a:rPr>
              <a:t>roblema</a:t>
            </a:r>
            <a:endParaRPr sz="27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5825" y="2519362"/>
            <a:ext cx="4940617" cy="31432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 dirty="0" err="1">
                <a:solidFill>
                  <a:srgbClr val="1E40AF"/>
                </a:solidFill>
                <a:latin typeface="Poppins SemiBold"/>
              </a:rPr>
              <a:t>Limiti</a:t>
            </a:r>
            <a:r>
              <a:rPr sz="1650" b="0" i="0" u="none" dirty="0">
                <a:solidFill>
                  <a:srgbClr val="1E40AF"/>
                </a:solidFill>
                <a:latin typeface="Poppins SemiBold"/>
              </a:rPr>
              <a:t> degli </a:t>
            </a:r>
            <a:r>
              <a:rPr lang="it-IT" sz="1650" b="0" i="0" u="none" dirty="0">
                <a:solidFill>
                  <a:srgbClr val="1E40AF"/>
                </a:solidFill>
                <a:latin typeface="Poppins SemiBold"/>
              </a:rPr>
              <a:t>A</a:t>
            </a:r>
            <a:r>
              <a:rPr sz="1650" b="0" i="0" u="none" dirty="0" err="1">
                <a:solidFill>
                  <a:srgbClr val="1E40AF"/>
                </a:solidFill>
                <a:latin typeface="Poppins SemiBold"/>
              </a:rPr>
              <a:t>pprocci</a:t>
            </a:r>
            <a:r>
              <a:rPr sz="1650" b="0" i="0" u="none" dirty="0">
                <a:solidFill>
                  <a:srgbClr val="1E40AF"/>
                </a:solidFill>
                <a:latin typeface="Poppins SemiBold"/>
              </a:rPr>
              <a:t> </a:t>
            </a:r>
            <a:r>
              <a:rPr lang="it-IT" sz="1650" b="0" i="0" u="none" dirty="0">
                <a:solidFill>
                  <a:srgbClr val="1E40AF"/>
                </a:solidFill>
                <a:latin typeface="Poppins SemiBold"/>
              </a:rPr>
              <a:t>C</a:t>
            </a:r>
            <a:r>
              <a:rPr sz="1650" b="0" i="0" u="none" dirty="0" err="1">
                <a:solidFill>
                  <a:srgbClr val="1E40AF"/>
                </a:solidFill>
                <a:latin typeface="Poppins SemiBold"/>
              </a:rPr>
              <a:t>lassici</a:t>
            </a:r>
            <a:endParaRPr sz="1650" b="0" i="0" u="none" dirty="0">
              <a:solidFill>
                <a:srgbClr val="1E40AF"/>
              </a:solidFill>
              <a:latin typeface="Poppins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00825" y="2519362"/>
            <a:ext cx="4940617" cy="314325"/>
          </a:xfrm>
          <a:prstGeom prst="rect">
            <a:avLst/>
          </a:prstGeom>
          <a:noFill/>
        </p:spPr>
        <p:txBody>
          <a:bodyPr wrap="square" lIns="3429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40AF"/>
                </a:solidFill>
                <a:latin typeface="Poppins SemiBold"/>
              </a:rPr>
              <a:t>Paradigm Shift: RL Sequenziale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566987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81075" y="3004412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2967037"/>
            <a:ext cx="4514850" cy="72866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sz="1275" i="0" u="none" dirty="0" err="1">
                <a:solidFill>
                  <a:srgbClr val="334155"/>
                </a:solidFill>
                <a:latin typeface="Inter"/>
              </a:rPr>
              <a:t>L'Object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Detection </a:t>
            </a:r>
            <a:r>
              <a:rPr lang="it-IT" sz="1275" dirty="0">
                <a:solidFill>
                  <a:srgbClr val="334155"/>
                </a:solidFill>
                <a:latin typeface="Inter"/>
              </a:rPr>
              <a:t>supervisionato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richiede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vasti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dataset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annotati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e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fornisce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predizioni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in un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singolo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forward pass,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agendo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come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una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scatola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nera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75" y="3847374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810000"/>
            <a:ext cx="4514850" cy="46955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i="0" u="none" dirty="0">
                <a:solidFill>
                  <a:srgbClr val="334155"/>
                </a:solidFill>
                <a:latin typeface="Inter"/>
              </a:rPr>
              <a:t>Non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rispecchia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il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processo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mentale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del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radiologo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,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che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esplora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l'immagine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affinando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iterativamente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l'attenzione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sulla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lesione</a:t>
            </a:r>
            <a:r>
              <a:rPr lang="it-IT" sz="1275" i="0" u="none" dirty="0">
                <a:solidFill>
                  <a:srgbClr val="334155"/>
                </a:solidFill>
                <a:latin typeface="Inter"/>
              </a:rPr>
              <a:t>.</a:t>
            </a:r>
            <a:endParaRPr sz="1275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1075" y="441204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4374670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Particolarmente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critico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nel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dominio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medicale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dove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i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dati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etichettati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sono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spesso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limitati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566987"/>
            <a:ext cx="266700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96075" y="2994473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5" y="2967037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i="0" u="none" dirty="0">
                <a:solidFill>
                  <a:srgbClr val="334155"/>
                </a:solidFill>
                <a:latin typeface="Inter"/>
              </a:rPr>
              <a:t>La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localizzazione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è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formulata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come un Markov Decision Process (MDP).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6075" y="3594548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1325" y="3567112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Un agente osserva l'immagine e la box corrente e sceglie azioni elementari per trasformare la box verso il target.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6075" y="4194623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1325" y="4167187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i="0" u="none" dirty="0" err="1">
                <a:solidFill>
                  <a:srgbClr val="334155"/>
                </a:solidFill>
                <a:latin typeface="Inter"/>
              </a:rPr>
              <a:t>Consente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di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integrare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Imitation Learning (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DQfD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) e reward dense per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addestramenti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campionariamente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efficienti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52662"/>
            <a:ext cx="3492549" cy="3267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252662"/>
            <a:ext cx="3492549" cy="3267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252662"/>
            <a:ext cx="3492549" cy="3267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11601450" cy="498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 dirty="0">
                <a:solidFill>
                  <a:srgbClr val="0F172A"/>
                </a:solidFill>
                <a:latin typeface="Poppins"/>
              </a:rPr>
              <a:t>Dataset </a:t>
            </a:r>
            <a:r>
              <a:rPr lang="it-IT" sz="2700" b="1" i="0" u="none" dirty="0">
                <a:solidFill>
                  <a:srgbClr val="0F172A"/>
                </a:solidFill>
                <a:latin typeface="Poppins"/>
              </a:rPr>
              <a:t>e</a:t>
            </a:r>
            <a:r>
              <a:rPr sz="2700" b="1" i="0" u="none" dirty="0">
                <a:solidFill>
                  <a:srgbClr val="0F172A"/>
                </a:solidFill>
                <a:latin typeface="Poppins"/>
              </a:rPr>
              <a:t> </a:t>
            </a:r>
            <a:r>
              <a:rPr lang="it-IT" sz="2700" b="1" i="0" u="none" dirty="0">
                <a:solidFill>
                  <a:srgbClr val="0F172A"/>
                </a:solidFill>
                <a:latin typeface="Poppins"/>
              </a:rPr>
              <a:t>A</a:t>
            </a:r>
            <a:r>
              <a:rPr sz="2700" b="1" i="0" u="none" dirty="0" err="1">
                <a:solidFill>
                  <a:srgbClr val="0F172A"/>
                </a:solidFill>
                <a:latin typeface="Poppins"/>
              </a:rPr>
              <a:t>nalisi</a:t>
            </a:r>
            <a:r>
              <a:rPr sz="2700" b="1" i="0" u="none" dirty="0">
                <a:solidFill>
                  <a:srgbClr val="0F172A"/>
                </a:solidFill>
                <a:latin typeface="Poppins"/>
              </a:rPr>
              <a:t> delle </a:t>
            </a:r>
            <a:r>
              <a:rPr lang="it-IT" sz="2700" b="1" i="0" u="none" dirty="0">
                <a:solidFill>
                  <a:srgbClr val="0F172A"/>
                </a:solidFill>
                <a:latin typeface="Poppins"/>
              </a:rPr>
              <a:t>L</a:t>
            </a:r>
            <a:r>
              <a:rPr sz="2700" b="1" i="0" u="none" dirty="0" err="1">
                <a:solidFill>
                  <a:srgbClr val="0F172A"/>
                </a:solidFill>
                <a:latin typeface="Poppins"/>
              </a:rPr>
              <a:t>esioni</a:t>
            </a:r>
            <a:endParaRPr sz="27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547937"/>
            <a:ext cx="514350" cy="514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6775" y="3252787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F172A"/>
                </a:solidFill>
                <a:latin typeface="Poppins SemiBold"/>
              </a:rPr>
              <a:t>Brain Tumor 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795712"/>
            <a:ext cx="2901999" cy="1073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Inter"/>
              </a:rPr>
              <a:t>2.145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scansioni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MRI 2D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suddivise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in: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• </a:t>
            </a:r>
            <a:r>
              <a:rPr sz="1125" b="1" i="0" u="none" dirty="0">
                <a:solidFill>
                  <a:srgbClr val="475569"/>
                </a:solidFill>
                <a:latin typeface="Inter"/>
              </a:rPr>
              <a:t>Train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: 1.501 (</a:t>
            </a:r>
            <a:r>
              <a:rPr lang="it-IT" sz="1125" b="0" i="0" u="none" dirty="0">
                <a:solidFill>
                  <a:srgbClr val="475569"/>
                </a:solidFill>
                <a:latin typeface="Inter"/>
              </a:rPr>
              <a:t>~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70%</a:t>
            </a:r>
            <a:r>
              <a:rPr lang="it-IT" sz="1125" b="0" i="0" u="none" dirty="0">
                <a:solidFill>
                  <a:srgbClr val="475569"/>
                </a:solidFill>
                <a:latin typeface="Inter"/>
              </a:rPr>
              <a:t>)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• </a:t>
            </a:r>
            <a:r>
              <a:rPr sz="1125" b="1" i="0" u="none" dirty="0">
                <a:solidFill>
                  <a:srgbClr val="475569"/>
                </a:solidFill>
                <a:latin typeface="Inter"/>
              </a:rPr>
              <a:t>Val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: 429 (~20%)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• </a:t>
            </a:r>
            <a:r>
              <a:rPr sz="1125" b="1" i="0" u="none" dirty="0">
                <a:solidFill>
                  <a:srgbClr val="475569"/>
                </a:solidFill>
                <a:latin typeface="Inter"/>
              </a:rPr>
              <a:t>Test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: 215 (~10%)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Risoluzione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uniforme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224 </a:t>
            </a:r>
            <a:r>
              <a:rPr lang="it-IT" sz="1125" b="0" i="0" u="none" dirty="0">
                <a:solidFill>
                  <a:srgbClr val="475569"/>
                </a:solidFill>
                <a:latin typeface="Inter"/>
              </a:rPr>
              <a:t>×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224 × 3 pixels.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547937"/>
            <a:ext cx="514350" cy="514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45074" y="3252787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F172A"/>
                </a:solidFill>
                <a:latin typeface="Poppins SemiBold"/>
              </a:rPr>
              <a:t>Distribuzione e Dimensioni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074" y="3795712"/>
            <a:ext cx="2901999" cy="1073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Inter"/>
              </a:rPr>
              <a:t>• Area media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occupata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: </a:t>
            </a:r>
            <a:r>
              <a:rPr sz="1125" b="1" i="0" u="none" dirty="0">
                <a:solidFill>
                  <a:srgbClr val="475569"/>
                </a:solidFill>
                <a:latin typeface="Inter"/>
              </a:rPr>
              <a:t>2.9% </a:t>
            </a:r>
            <a:r>
              <a:rPr sz="1125" b="1" i="0" u="none" dirty="0" err="1">
                <a:solidFill>
                  <a:srgbClr val="475569"/>
                </a:solidFill>
                <a:latin typeface="Inter"/>
              </a:rPr>
              <a:t>dell'immagine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(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lesioni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molto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piccole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).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• Distribuzione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dell'intensità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1" i="0" u="none" dirty="0" err="1">
                <a:solidFill>
                  <a:srgbClr val="475569"/>
                </a:solidFill>
                <a:latin typeface="Inter"/>
              </a:rPr>
              <a:t>bimodale</a:t>
            </a:r>
            <a:endParaRPr lang="it-IT" sz="1125" dirty="0">
              <a:solidFill>
                <a:srgbClr val="475569"/>
              </a:solidFill>
              <a:latin typeface="Inter"/>
            </a:endParaRPr>
          </a:p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Inter"/>
              </a:rPr>
              <a:t>(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scura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0.0</a:t>
            </a:r>
            <a:r>
              <a:rPr lang="it-IT"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–</a:t>
            </a:r>
            <a:r>
              <a:rPr lang="it-IT"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0.3 e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chiara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0.7</a:t>
            </a:r>
            <a:r>
              <a:rPr lang="it-IT"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–</a:t>
            </a:r>
            <a:r>
              <a:rPr lang="it-IT"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0.9).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• Nessuno shift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sistematico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tra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train,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val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e test.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547937"/>
            <a:ext cx="514350" cy="514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23374" y="3252787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F172A"/>
                </a:solidFill>
                <a:latin typeface="Poppins SemiBold"/>
              </a:rPr>
              <a:t>Variabilità Geometrica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3374" y="3795712"/>
            <a:ext cx="2901999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u="none" dirty="0">
                <a:solidFill>
                  <a:srgbClr val="475569"/>
                </a:solidFill>
                <a:latin typeface="Inter"/>
              </a:rPr>
              <a:t>• </a:t>
            </a:r>
            <a:r>
              <a:rPr sz="1125" u="none" dirty="0" err="1">
                <a:solidFill>
                  <a:srgbClr val="475569"/>
                </a:solidFill>
                <a:latin typeface="Inter"/>
              </a:rPr>
              <a:t>Elevata</a:t>
            </a:r>
            <a:r>
              <a:rPr sz="1125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u="none" dirty="0" err="1">
                <a:solidFill>
                  <a:srgbClr val="475569"/>
                </a:solidFill>
                <a:latin typeface="Inter"/>
              </a:rPr>
              <a:t>asimmetria</a:t>
            </a:r>
            <a:r>
              <a:rPr sz="1125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u="none" dirty="0" err="1">
                <a:solidFill>
                  <a:srgbClr val="475569"/>
                </a:solidFill>
                <a:latin typeface="Inter"/>
              </a:rPr>
              <a:t>nell'aspect</a:t>
            </a:r>
            <a:r>
              <a:rPr sz="1125" u="none" dirty="0">
                <a:solidFill>
                  <a:srgbClr val="475569"/>
                </a:solidFill>
                <a:latin typeface="Inter"/>
              </a:rPr>
              <a:t> ratio (</a:t>
            </a:r>
            <a:r>
              <a:rPr sz="1125" u="none" dirty="0" err="1">
                <a:solidFill>
                  <a:srgbClr val="475569"/>
                </a:solidFill>
                <a:latin typeface="Inter"/>
              </a:rPr>
              <a:t>forme</a:t>
            </a:r>
            <a:r>
              <a:rPr sz="1125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u="none" dirty="0" err="1">
                <a:solidFill>
                  <a:srgbClr val="475569"/>
                </a:solidFill>
                <a:latin typeface="Inter"/>
              </a:rPr>
              <a:t>allungate</a:t>
            </a:r>
            <a:r>
              <a:rPr sz="1125" u="none" dirty="0">
                <a:solidFill>
                  <a:srgbClr val="475569"/>
                </a:solidFill>
                <a:latin typeface="Inter"/>
              </a:rPr>
              <a:t> con coda &gt; 3).</a:t>
            </a:r>
            <a:r>
              <a:rPr dirty="0"/>
              <a:t>
</a:t>
            </a:r>
            <a:r>
              <a:rPr sz="1125" u="none" dirty="0">
                <a:solidFill>
                  <a:srgbClr val="475569"/>
                </a:solidFill>
                <a:latin typeface="Inter"/>
              </a:rPr>
              <a:t>• Geometrie </a:t>
            </a:r>
            <a:r>
              <a:rPr sz="1125" u="none" dirty="0" err="1">
                <a:solidFill>
                  <a:srgbClr val="475569"/>
                </a:solidFill>
                <a:latin typeface="Inter"/>
              </a:rPr>
              <a:t>irregolari</a:t>
            </a:r>
            <a:r>
              <a:rPr sz="1125" u="none" dirty="0">
                <a:solidFill>
                  <a:srgbClr val="475569"/>
                </a:solidFill>
                <a:latin typeface="Inter"/>
              </a:rPr>
              <a:t> e </a:t>
            </a:r>
            <a:r>
              <a:rPr sz="1125" u="none" dirty="0" err="1">
                <a:solidFill>
                  <a:srgbClr val="475569"/>
                </a:solidFill>
                <a:latin typeface="Inter"/>
              </a:rPr>
              <a:t>disomogenee</a:t>
            </a:r>
            <a:r>
              <a:rPr sz="1125" u="none" dirty="0">
                <a:solidFill>
                  <a:srgbClr val="475569"/>
                </a:solidFill>
                <a:latin typeface="Inter"/>
              </a:rPr>
              <a:t>.</a:t>
            </a:r>
            <a:r>
              <a:rPr dirty="0"/>
              <a:t>
</a:t>
            </a:r>
            <a:r>
              <a:rPr sz="1125" u="none" dirty="0">
                <a:solidFill>
                  <a:srgbClr val="475569"/>
                </a:solidFill>
                <a:latin typeface="Inter"/>
              </a:rPr>
              <a:t>• Lesioni </a:t>
            </a:r>
            <a:r>
              <a:rPr sz="1125" u="none" dirty="0" err="1">
                <a:solidFill>
                  <a:srgbClr val="475569"/>
                </a:solidFill>
                <a:latin typeface="Inter"/>
              </a:rPr>
              <a:t>tendenzialmente</a:t>
            </a:r>
            <a:r>
              <a:rPr sz="1125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u="none" dirty="0" err="1">
                <a:solidFill>
                  <a:srgbClr val="475569"/>
                </a:solidFill>
                <a:latin typeface="Inter"/>
              </a:rPr>
              <a:t>decentrate</a:t>
            </a:r>
            <a:r>
              <a:rPr sz="1125" u="none" dirty="0">
                <a:solidFill>
                  <a:srgbClr val="475569"/>
                </a:solidFill>
                <a:latin typeface="Inter"/>
              </a:rPr>
              <a:t> rispetto </a:t>
            </a:r>
            <a:r>
              <a:rPr sz="1125" u="none" dirty="0" err="1">
                <a:solidFill>
                  <a:srgbClr val="475569"/>
                </a:solidFill>
                <a:latin typeface="Inter"/>
              </a:rPr>
              <a:t>all'origine</a:t>
            </a:r>
            <a:r>
              <a:rPr sz="1125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u="none" dirty="0" err="1">
                <a:solidFill>
                  <a:srgbClr val="475569"/>
                </a:solidFill>
                <a:latin typeface="Inter"/>
              </a:rPr>
              <a:t>dell'immagine</a:t>
            </a:r>
            <a:r>
              <a:rPr sz="1125" u="none" dirty="0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4412" y="2681287"/>
            <a:ext cx="219075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64137" y="2681287"/>
            <a:ext cx="27622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56724" y="2681287"/>
            <a:ext cx="247650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52662"/>
            <a:ext cx="3492549" cy="3267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9799" y="2252662"/>
            <a:ext cx="3492549" cy="32670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252662"/>
            <a:ext cx="3492549" cy="32670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11601450" cy="498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 dirty="0" err="1">
                <a:solidFill>
                  <a:srgbClr val="0F172A"/>
                </a:solidFill>
                <a:latin typeface="Poppins"/>
              </a:rPr>
              <a:t>Formulazione</a:t>
            </a:r>
            <a:r>
              <a:rPr sz="2700" b="1" i="0" u="none" dirty="0">
                <a:solidFill>
                  <a:srgbClr val="0F172A"/>
                </a:solidFill>
                <a:latin typeface="Poppins"/>
              </a:rPr>
              <a:t> dell'</a:t>
            </a:r>
            <a:r>
              <a:rPr lang="it-IT" sz="2700" b="1" dirty="0">
                <a:solidFill>
                  <a:srgbClr val="0F172A"/>
                </a:solidFill>
                <a:latin typeface="Poppins"/>
              </a:rPr>
              <a:t>A</a:t>
            </a:r>
            <a:r>
              <a:rPr sz="2700" b="1" i="0" u="none" dirty="0" err="1">
                <a:solidFill>
                  <a:srgbClr val="0F172A"/>
                </a:solidFill>
                <a:latin typeface="Poppins"/>
              </a:rPr>
              <a:t>mbiente</a:t>
            </a:r>
            <a:r>
              <a:rPr sz="2700" b="1" i="0" u="none" dirty="0">
                <a:solidFill>
                  <a:srgbClr val="0F172A"/>
                </a:solidFill>
                <a:latin typeface="Poppins"/>
              </a:rPr>
              <a:t> MDP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547937"/>
            <a:ext cx="514350" cy="5143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6775" y="3252787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F172A"/>
                </a:solidFill>
                <a:latin typeface="Poppins SemiBold"/>
              </a:rPr>
              <a:t>Spazio degli Stati (S)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795712"/>
            <a:ext cx="290199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Composto da: Crop visivo dalla feature map via RoI Align, storia delle ultime 10 azioni, coordinate normalizzate, progresso temporale e feature di bias spaziale.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45074" y="2547937"/>
            <a:ext cx="514350" cy="514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45074" y="3252787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F172A"/>
                </a:solidFill>
                <a:latin typeface="Poppins SemiBold"/>
              </a:rPr>
              <a:t>Spazio delle Azioni (A)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074" y="3795712"/>
            <a:ext cx="2901999" cy="107362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>
                <a:solidFill>
                  <a:srgbClr val="475569"/>
                </a:solidFill>
                <a:latin typeface="Inter"/>
              </a:rPr>
              <a:t>9 Azioni Discrete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: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•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Traslazione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(Dx,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Sx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, Su, Giù)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•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Ridimensionamento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(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Stringi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/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Espandi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H/V)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• Trigger di </a:t>
            </a:r>
            <a:r>
              <a:rPr sz="1125" i="0" u="none" dirty="0">
                <a:solidFill>
                  <a:srgbClr val="475569"/>
                </a:solidFill>
                <a:latin typeface="Inter"/>
              </a:rPr>
              <a:t>STOP</a:t>
            </a:r>
            <a:r>
              <a:rPr lang="it-IT"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Passo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dinamico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pari al 10% della box.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3374" y="2547937"/>
            <a:ext cx="514350" cy="5143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423374" y="3252787"/>
            <a:ext cx="304709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F172A"/>
                </a:solidFill>
                <a:latin typeface="Poppins SemiBold"/>
              </a:rPr>
              <a:t>Dinamica dell'Ambiente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23374" y="3795712"/>
            <a:ext cx="290199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i="0" u="none" dirty="0" err="1">
                <a:solidFill>
                  <a:srgbClr val="475569"/>
                </a:solidFill>
                <a:latin typeface="Inter"/>
              </a:rPr>
              <a:t>Transizioni</a:t>
            </a:r>
            <a:r>
              <a:rPr sz="1125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i="0" u="none" dirty="0" err="1">
                <a:solidFill>
                  <a:srgbClr val="475569"/>
                </a:solidFill>
                <a:latin typeface="Inter"/>
              </a:rPr>
              <a:t>deterministiche</a:t>
            </a:r>
            <a:r>
              <a:rPr sz="1125" i="0" u="none" dirty="0">
                <a:solidFill>
                  <a:srgbClr val="475569"/>
                </a:solidFill>
                <a:latin typeface="Inter"/>
              </a:rPr>
              <a:t>. </a:t>
            </a:r>
            <a:r>
              <a:rPr sz="1125" i="0" u="none" dirty="0" err="1">
                <a:solidFill>
                  <a:srgbClr val="475569"/>
                </a:solidFill>
                <a:latin typeface="Inter"/>
              </a:rPr>
              <a:t>Inizio</a:t>
            </a:r>
            <a:r>
              <a:rPr sz="1125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i="0" u="none" dirty="0" err="1">
                <a:solidFill>
                  <a:srgbClr val="475569"/>
                </a:solidFill>
                <a:latin typeface="Inter"/>
              </a:rPr>
              <a:t>dall'intera</a:t>
            </a:r>
            <a:r>
              <a:rPr sz="1125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i="0" u="none" dirty="0" err="1">
                <a:solidFill>
                  <a:srgbClr val="475569"/>
                </a:solidFill>
                <a:latin typeface="Inter"/>
              </a:rPr>
              <a:t>immagine</a:t>
            </a:r>
            <a:r>
              <a:rPr sz="1125" i="0" u="none" dirty="0">
                <a:solidFill>
                  <a:srgbClr val="475569"/>
                </a:solidFill>
                <a:latin typeface="Inter"/>
              </a:rPr>
              <a:t>. Termina con </a:t>
            </a:r>
            <a:r>
              <a:rPr sz="1125" i="0" u="none" dirty="0" err="1">
                <a:solidFill>
                  <a:srgbClr val="475569"/>
                </a:solidFill>
                <a:latin typeface="Inter"/>
              </a:rPr>
              <a:t>l'azione</a:t>
            </a:r>
            <a:r>
              <a:rPr sz="1125" i="0" u="none" dirty="0">
                <a:solidFill>
                  <a:srgbClr val="475569"/>
                </a:solidFill>
                <a:latin typeface="Inter"/>
              </a:rPr>
              <a:t> di STOP o al </a:t>
            </a:r>
            <a:r>
              <a:rPr sz="1125" i="0" u="none" dirty="0" err="1">
                <a:solidFill>
                  <a:srgbClr val="475569"/>
                </a:solidFill>
                <a:latin typeface="Inter"/>
              </a:rPr>
              <a:t>raggiungimento</a:t>
            </a:r>
            <a:r>
              <a:rPr sz="1125" i="0" u="none" dirty="0">
                <a:solidFill>
                  <a:srgbClr val="475569"/>
                </a:solidFill>
                <a:latin typeface="Inter"/>
              </a:rPr>
              <a:t> del </a:t>
            </a:r>
            <a:r>
              <a:rPr sz="1125" i="0" u="none" dirty="0" err="1">
                <a:solidFill>
                  <a:srgbClr val="475569"/>
                </a:solidFill>
                <a:latin typeface="Inter"/>
              </a:rPr>
              <a:t>limite</a:t>
            </a:r>
            <a:r>
              <a:rPr sz="1125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i="0" u="none" dirty="0" err="1">
                <a:solidFill>
                  <a:srgbClr val="475569"/>
                </a:solidFill>
                <a:latin typeface="Inter"/>
              </a:rPr>
              <a:t>massimo</a:t>
            </a:r>
            <a:r>
              <a:rPr sz="1125" i="0" u="none" dirty="0">
                <a:solidFill>
                  <a:srgbClr val="475569"/>
                </a:solidFill>
                <a:latin typeface="Inter"/>
              </a:rPr>
              <a:t> di 50 step (</a:t>
            </a:r>
            <a:r>
              <a:rPr sz="1125" i="0" u="none" dirty="0" err="1">
                <a:solidFill>
                  <a:srgbClr val="475569"/>
                </a:solidFill>
                <a:latin typeface="Inter"/>
              </a:rPr>
              <a:t>troncamento</a:t>
            </a:r>
            <a:r>
              <a:rPr sz="1125" i="0" u="none" dirty="0">
                <a:solidFill>
                  <a:srgbClr val="475569"/>
                </a:solidFill>
                <a:latin typeface="Inter"/>
              </a:rPr>
              <a:t>).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837" y="2681287"/>
            <a:ext cx="276225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5087" y="2681287"/>
            <a:ext cx="31432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1011" y="2681287"/>
            <a:ext cx="21907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86500" y="1219375"/>
            <a:ext cx="5334000" cy="465737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498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 dirty="0" err="1">
                <a:solidFill>
                  <a:srgbClr val="0F172A"/>
                </a:solidFill>
                <a:latin typeface="Poppins"/>
              </a:rPr>
              <a:t>Ingegneria</a:t>
            </a:r>
            <a:r>
              <a:rPr sz="2700" b="1" i="0" u="none" dirty="0">
                <a:solidFill>
                  <a:srgbClr val="0F172A"/>
                </a:solidFill>
                <a:latin typeface="Poppins"/>
              </a:rPr>
              <a:t> dell'</a:t>
            </a:r>
            <a:r>
              <a:rPr lang="it-IT" sz="2700" b="1" dirty="0">
                <a:solidFill>
                  <a:srgbClr val="0F172A"/>
                </a:solidFill>
                <a:latin typeface="Poppins"/>
              </a:rPr>
              <a:t>O</a:t>
            </a:r>
            <a:r>
              <a:rPr sz="2700" b="1" i="0" u="none" dirty="0" err="1">
                <a:solidFill>
                  <a:srgbClr val="0F172A"/>
                </a:solidFill>
                <a:latin typeface="Poppins"/>
              </a:rPr>
              <a:t>sservazione</a:t>
            </a:r>
            <a:endParaRPr sz="27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6300" y="2076450"/>
            <a:ext cx="5029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i="0" u="none" dirty="0" err="1">
                <a:solidFill>
                  <a:srgbClr val="334155"/>
                </a:solidFill>
                <a:latin typeface="Inter"/>
              </a:rPr>
              <a:t>RoI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Align con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Contesto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: Estrae le feature 7 </a:t>
            </a:r>
            <a:r>
              <a:rPr lang="it-IT" sz="1200" i="0" u="none" dirty="0">
                <a:solidFill>
                  <a:srgbClr val="334155"/>
                </a:solidFill>
                <a:latin typeface="Inter"/>
              </a:rPr>
              <a:t>x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7 della box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corrente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dalla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feature map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globale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ResNet18 (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calcolata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1 sola volta per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episodio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)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aggiungendo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16px di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margine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91465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i="0" u="none" dirty="0">
                <a:solidFill>
                  <a:srgbClr val="334155"/>
                </a:solidFill>
                <a:latin typeface="Inter"/>
              </a:rPr>
              <a:t>Storia delle Azioni: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Vettore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one-hot delle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ultime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10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azioni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(10 × 9 = 90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dimensioni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) per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conferire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memoria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all'agente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52425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i="0" u="none" dirty="0">
                <a:solidFill>
                  <a:srgbClr val="334155"/>
                </a:solidFill>
                <a:latin typeface="Inter"/>
              </a:rPr>
              <a:t>Feature di Bias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Spaziale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(6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val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):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Misurano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dove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si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concentra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l'energia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dell'attivazione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(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bilanciamento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L</a:t>
            </a:r>
            <a:r>
              <a:rPr lang="it-IT"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/</a:t>
            </a:r>
            <a:r>
              <a:rPr lang="it-IT"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R e U</a:t>
            </a:r>
            <a:r>
              <a:rPr lang="it-IT"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/</a:t>
            </a:r>
            <a:r>
              <a:rPr lang="it-IT"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D,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baricentro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e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dispersione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4133850"/>
            <a:ext cx="5029200" cy="444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i="0" u="none" dirty="0">
                <a:solidFill>
                  <a:srgbClr val="334155"/>
                </a:solidFill>
                <a:latin typeface="Inter"/>
              </a:rPr>
              <a:t>Coordinate e Progresso (5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val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): Coordinate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normalizzate</a:t>
            </a:r>
            <a:r>
              <a:rPr lang="it-IT" sz="1200" i="0" u="none" dirty="0">
                <a:solidFill>
                  <a:srgbClr val="334155"/>
                </a:solidFill>
                <a:latin typeface="Inter"/>
              </a:rPr>
              <a:t> (x</a:t>
            </a:r>
            <a:r>
              <a:rPr lang="it-IT" sz="1200" i="0" u="none" baseline="-25000" dirty="0">
                <a:solidFill>
                  <a:srgbClr val="334155"/>
                </a:solidFill>
                <a:latin typeface="Inter"/>
              </a:rPr>
              <a:t>1</a:t>
            </a:r>
            <a:r>
              <a:rPr lang="it-IT" sz="1200" i="0" u="none" dirty="0">
                <a:solidFill>
                  <a:srgbClr val="334155"/>
                </a:solidFill>
                <a:latin typeface="Inter"/>
              </a:rPr>
              <a:t>, y</a:t>
            </a:r>
            <a:r>
              <a:rPr lang="it-IT" sz="1200" i="0" u="none" baseline="-25000" dirty="0">
                <a:solidFill>
                  <a:srgbClr val="334155"/>
                </a:solidFill>
                <a:latin typeface="Inter"/>
              </a:rPr>
              <a:t>1</a:t>
            </a:r>
            <a:r>
              <a:rPr lang="it-IT" sz="1200" i="0" u="none" dirty="0">
                <a:solidFill>
                  <a:srgbClr val="334155"/>
                </a:solidFill>
                <a:latin typeface="Inter"/>
              </a:rPr>
              <a:t>, x</a:t>
            </a:r>
            <a:r>
              <a:rPr lang="it-IT" sz="1200" i="0" u="none" baseline="-25000" dirty="0">
                <a:solidFill>
                  <a:srgbClr val="334155"/>
                </a:solidFill>
                <a:latin typeface="Inter"/>
              </a:rPr>
              <a:t>2</a:t>
            </a:r>
            <a:r>
              <a:rPr lang="it-IT" sz="1200" i="0" u="none" dirty="0">
                <a:solidFill>
                  <a:srgbClr val="334155"/>
                </a:solidFill>
                <a:latin typeface="Inter"/>
              </a:rPr>
              <a:t>, y</a:t>
            </a:r>
            <a:r>
              <a:rPr lang="it-IT" sz="1200" i="0" u="none" baseline="-25000" dirty="0">
                <a:solidFill>
                  <a:srgbClr val="334155"/>
                </a:solidFill>
                <a:latin typeface="Inter"/>
              </a:rPr>
              <a:t>2</a:t>
            </a:r>
            <a:r>
              <a:rPr lang="it-IT" sz="1200" i="0" u="none" dirty="0">
                <a:solidFill>
                  <a:srgbClr val="334155"/>
                </a:solidFill>
                <a:latin typeface="Inter"/>
              </a:rPr>
              <a:t>)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 e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frazione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di step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trascorsi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.</a:t>
            </a:r>
            <a:r>
              <a:rPr lang="it-IT" sz="1200" i="0" u="none" dirty="0">
                <a:solidFill>
                  <a:srgbClr val="334155"/>
                </a:solidFill>
                <a:latin typeface="Inter"/>
              </a:rPr>
              <a:t> </a:t>
            </a:r>
            <a:endParaRPr sz="1200" i="0" u="none" dirty="0">
              <a:solidFill>
                <a:srgbClr val="334155"/>
              </a:solidFill>
              <a:latin typeface="Inter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100262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938462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548062"/>
            <a:ext cx="17145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157662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3" name="Picture 2" descr="image.png">
            <a:extLst>
              <a:ext uri="{FF2B5EF4-FFF2-40B4-BE49-F238E27FC236}">
                <a16:creationId xmlns:a16="http://schemas.microsoft.com/office/drawing/2014/main" id="{DEECDAFE-BC63-27E4-30DD-8F64207D7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43720"/>
            <a:ext cx="5334000" cy="348481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43720"/>
            <a:ext cx="5334000" cy="348481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Architettura: Attention &amp; Dueling DQN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85825" y="2458045"/>
            <a:ext cx="4940617" cy="314325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40AF"/>
                </a:solidFill>
                <a:latin typeface="Poppins SemiBold"/>
              </a:rPr>
              <a:t>Feature Extractor &amp; Pooling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2458045"/>
            <a:ext cx="4940617" cy="31432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40AF"/>
                </a:solidFill>
                <a:latin typeface="Poppins SemiBold"/>
              </a:rPr>
              <a:t>Dueling Double DQN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25" y="2505670"/>
            <a:ext cx="266700" cy="2095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1075" y="2933156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6325" y="2905720"/>
            <a:ext cx="4514850" cy="72866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i="0" u="none" dirty="0">
                <a:solidFill>
                  <a:srgbClr val="334155"/>
                </a:solidFill>
                <a:latin typeface="Inter"/>
              </a:rPr>
              <a:t>Backbone ResNet18 (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Congelata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):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Utilizzata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come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estrattore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di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caratteristiche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senza aggiornamento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dei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gradienti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per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prevenire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overfitting.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3776118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3748682"/>
            <a:ext cx="4514850" cy="72866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i="0" u="none" dirty="0" err="1">
                <a:solidFill>
                  <a:srgbClr val="334155"/>
                </a:solidFill>
                <a:latin typeface="Inter"/>
              </a:rPr>
              <a:t>SpatialAttentionPool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: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Combina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il Global Average Pooling con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una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mappa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di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attenzione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calcolata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via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convoluzione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1 × 1 +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Softmax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spaziale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075" y="461908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4591645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334155"/>
                </a:solidFill>
                <a:latin typeface="Inter"/>
              </a:rPr>
              <a:t>Invia alla testa decisionale un vettore di embedding visivo di dimensione 512.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5" y="2505670"/>
            <a:ext cx="209550" cy="2095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696075" y="2933156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91325" y="2905720"/>
            <a:ext cx="4514850" cy="46955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i="0" u="none" dirty="0">
                <a:solidFill>
                  <a:srgbClr val="334155"/>
                </a:solidFill>
                <a:latin typeface="Inter"/>
              </a:rPr>
              <a:t>Dueling Architecture: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Separa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la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stima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del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valore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dello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stato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it-IT" sz="1275" i="0" u="none" dirty="0">
                <a:solidFill>
                  <a:srgbClr val="334155"/>
                </a:solidFill>
                <a:latin typeface="Inter"/>
              </a:rPr>
              <a:t>V(s)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dalla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stima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del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vantaggio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di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ciascuna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azione </a:t>
            </a:r>
            <a:r>
              <a:rPr lang="it-IT" sz="1275" i="0" u="none" dirty="0">
                <a:solidFill>
                  <a:srgbClr val="334155"/>
                </a:solidFill>
                <a:latin typeface="Inter"/>
              </a:rPr>
              <a:t>A(</a:t>
            </a:r>
            <a:r>
              <a:rPr lang="it-IT" sz="1275" i="0" u="none" dirty="0" err="1">
                <a:solidFill>
                  <a:srgbClr val="334155"/>
                </a:solidFill>
                <a:latin typeface="Inter"/>
              </a:rPr>
              <a:t>s,a</a:t>
            </a:r>
            <a:r>
              <a:rPr lang="it-IT" sz="1275" i="0" u="none" dirty="0">
                <a:solidFill>
                  <a:srgbClr val="334155"/>
                </a:solidFill>
                <a:latin typeface="Inter"/>
              </a:rPr>
              <a:t>)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6075" y="4498679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1325" y="4471243"/>
            <a:ext cx="4514850" cy="72866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i="0" u="none" dirty="0">
                <a:solidFill>
                  <a:srgbClr val="334155"/>
                </a:solidFill>
                <a:latin typeface="Inter"/>
              </a:rPr>
              <a:t>Double DQN: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Disaccoppia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la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selezione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dell'azione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(policy network)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dalla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valutazione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(target network) per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eliminare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la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sovrastima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dei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Q-value.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1">
                <a:tint val="45000"/>
                <a:satMod val="400000"/>
              </a:schemeClr>
            </a:duotone>
            <a:alphaModFix/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200"/>
                    </a14:imgEffect>
                    <a14:imgEffect>
                      <a14:saturation sat="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80332" y="3893641"/>
            <a:ext cx="4058394" cy="329951"/>
          </a:xfrm>
          <a:prstGeom prst="rect">
            <a:avLst/>
          </a:prstGeom>
        </p:spPr>
      </p:pic>
      <p:sp>
        <p:nvSpPr>
          <p:cNvPr id="26" name="TextBox 20">
            <a:extLst>
              <a:ext uri="{FF2B5EF4-FFF2-40B4-BE49-F238E27FC236}">
                <a16:creationId xmlns:a16="http://schemas.microsoft.com/office/drawing/2014/main" id="{D2411874-255D-81D7-C95F-E3E314833523}"/>
              </a:ext>
            </a:extLst>
          </p:cNvPr>
          <p:cNvSpPr txBox="1"/>
          <p:nvPr/>
        </p:nvSpPr>
        <p:spPr>
          <a:xfrm>
            <a:off x="6699388" y="3905646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334155"/>
                </a:solidFill>
                <a:latin typeface="Inter"/>
              </a:rPr>
              <a:t>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99233"/>
            <a:ext cx="5334000" cy="337393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199233"/>
            <a:ext cx="5334000" cy="337393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Reward Shaping &amp; Metrica CIoU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5825" y="2513558"/>
            <a:ext cx="4940617" cy="31432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40AF"/>
                </a:solidFill>
                <a:latin typeface="Poppins SemiBold"/>
              </a:rPr>
              <a:t>Perché la Complete IoU (CIoU)?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2513558"/>
            <a:ext cx="4940617" cy="314325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40AF"/>
                </a:solidFill>
                <a:latin typeface="Poppins SemiBold"/>
              </a:rPr>
              <a:t>Struttura della Funzione di Reward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561183"/>
            <a:ext cx="209550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81075" y="2998607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2961233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i="0" u="none" dirty="0" err="1">
                <a:solidFill>
                  <a:srgbClr val="334155"/>
                </a:solidFill>
                <a:latin typeface="Inter"/>
              </a:rPr>
              <a:t>L'IoU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standard ha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gradiente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nullo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quando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le box non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si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sovrappongono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(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IoU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= 0).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75" y="3598682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561308"/>
            <a:ext cx="4514850" cy="95686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>
              <a:lnSpc>
                <a:spcPts val="1912"/>
              </a:lnSpc>
            </a:pPr>
            <a:r>
              <a:rPr sz="1275" i="0" u="none" dirty="0">
                <a:solidFill>
                  <a:srgbClr val="334155"/>
                </a:solidFill>
                <a:latin typeface="Inter"/>
              </a:rPr>
              <a:t>La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CIoU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estende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l'IoU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considerando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tre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fattori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geometrici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: </a:t>
            </a:r>
            <a:r>
              <a:rPr dirty="0"/>
              <a:t>
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1.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Sovrapposizione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dell'area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it-IT" sz="1275" i="0" u="none" dirty="0">
                <a:solidFill>
                  <a:srgbClr val="334155"/>
                </a:solidFill>
                <a:latin typeface="Inter"/>
              </a:rPr>
              <a:t>         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(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IoU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) </a:t>
            </a:r>
            <a:r>
              <a:rPr dirty="0"/>
              <a:t>
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2.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Distanza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tra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centri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delle </a:t>
            </a:r>
            <a:r>
              <a:rPr sz="1275" dirty="0">
                <a:solidFill>
                  <a:srgbClr val="334155"/>
                </a:solidFill>
                <a:latin typeface="Inter"/>
              </a:rPr>
              <a:t>box</a:t>
            </a:r>
            <a:r>
              <a:rPr lang="it-IT" sz="1275" dirty="0">
                <a:solidFill>
                  <a:srgbClr val="334155"/>
                </a:solidFill>
                <a:latin typeface="Inter"/>
              </a:rPr>
              <a:t>    (</a:t>
            </a:r>
            <a:r>
              <a:rPr lang="el-GR" sz="1275" dirty="0">
                <a:solidFill>
                  <a:srgbClr val="334155"/>
                </a:solidFill>
                <a:latin typeface="Inter"/>
              </a:rPr>
              <a:t>ρ</a:t>
            </a:r>
            <a:r>
              <a:rPr lang="it-IT" sz="1275" baseline="30000" dirty="0">
                <a:solidFill>
                  <a:srgbClr val="334155"/>
                </a:solidFill>
                <a:latin typeface="Inter"/>
              </a:rPr>
              <a:t>2</a:t>
            </a:r>
            <a:r>
              <a:rPr lang="it-IT" sz="1275" dirty="0">
                <a:solidFill>
                  <a:srgbClr val="334155"/>
                </a:solidFill>
                <a:latin typeface="Inter"/>
              </a:rPr>
              <a:t>/c</a:t>
            </a:r>
            <a:r>
              <a:rPr lang="it-IT" sz="1275" baseline="30000" dirty="0">
                <a:solidFill>
                  <a:srgbClr val="334155"/>
                </a:solidFill>
                <a:latin typeface="Inter"/>
              </a:rPr>
              <a:t>2</a:t>
            </a:r>
            <a:r>
              <a:rPr lang="it-IT" sz="1275" dirty="0">
                <a:solidFill>
                  <a:srgbClr val="334155"/>
                </a:solidFill>
                <a:latin typeface="Inter"/>
              </a:rPr>
              <a:t>)</a:t>
            </a:r>
            <a:r>
              <a:rPr dirty="0"/>
              <a:t>
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3.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Incoerenza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dell'aspect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ratio  </a:t>
            </a:r>
            <a:r>
              <a:rPr lang="it-IT" sz="1275" i="0" u="none" dirty="0">
                <a:solidFill>
                  <a:srgbClr val="334155"/>
                </a:solidFill>
                <a:latin typeface="Inter"/>
              </a:rPr>
              <a:t>     (</a:t>
            </a:r>
            <a:r>
              <a:rPr lang="el-GR" sz="1275" i="0" u="none" dirty="0">
                <a:solidFill>
                  <a:srgbClr val="334155"/>
                </a:solidFill>
                <a:latin typeface="Inter"/>
              </a:rPr>
              <a:t>α</a:t>
            </a:r>
            <a:r>
              <a:rPr lang="it-IT" sz="1275" dirty="0">
                <a:solidFill>
                  <a:srgbClr val="334155"/>
                </a:solidFill>
                <a:latin typeface="Inter"/>
                <a:cs typeface="Times New Roman" panose="02020603050405020304" pitchFamily="18" charset="0"/>
              </a:rPr>
              <a:t>υ)</a:t>
            </a:r>
            <a:endParaRPr sz="1275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1075" y="4696141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4658766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Fornisce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un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segnale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denso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e continuo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anche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a grande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distanza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dal target.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561183"/>
            <a:ext cx="161925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96075" y="2988668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5" y="2961233"/>
            <a:ext cx="4514850" cy="225896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i="0" u="none" dirty="0">
                <a:solidFill>
                  <a:srgbClr val="334155"/>
                </a:solidFill>
                <a:latin typeface="Inter"/>
              </a:rPr>
              <a:t>Reward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Incrementale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:</a:t>
            </a:r>
            <a:r>
              <a:rPr lang="it-IT" sz="1275" i="0" u="none" dirty="0">
                <a:solidFill>
                  <a:srgbClr val="334155"/>
                </a:solidFill>
                <a:latin typeface="Inter"/>
              </a:rPr>
              <a:t>  </a:t>
            </a:r>
            <a:r>
              <a:rPr lang="it-IT" sz="1275" i="0" u="none" dirty="0" err="1">
                <a:solidFill>
                  <a:srgbClr val="334155"/>
                </a:solidFill>
                <a:latin typeface="Inter"/>
              </a:rPr>
              <a:t>r</a:t>
            </a:r>
            <a:r>
              <a:rPr lang="it-IT" sz="1275" i="0" u="none" baseline="30000" dirty="0" err="1">
                <a:solidFill>
                  <a:srgbClr val="334155"/>
                </a:solidFill>
                <a:latin typeface="Inter"/>
              </a:rPr>
              <a:t>move</a:t>
            </a:r>
            <a:r>
              <a:rPr lang="it-IT" sz="1275" i="0" u="none" dirty="0">
                <a:solidFill>
                  <a:srgbClr val="334155"/>
                </a:solidFill>
                <a:latin typeface="Inter"/>
              </a:rPr>
              <a:t> = 5 </a:t>
            </a:r>
            <a:r>
              <a:rPr lang="it-IT" sz="1275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˖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el-GR" sz="1275" i="0" u="none" dirty="0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it-IT" sz="1275" i="0" u="none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CIoU</a:t>
            </a:r>
            <a:r>
              <a:rPr lang="it-IT" sz="1275" i="0" u="none" baseline="-25000" dirty="0" err="1">
                <a:solidFill>
                  <a:srgbClr val="3341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0647" y="3487888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1325" y="3452974"/>
            <a:ext cx="4514850" cy="225896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i="0" u="none" dirty="0" err="1">
                <a:solidFill>
                  <a:srgbClr val="334155"/>
                </a:solidFill>
                <a:latin typeface="Inter"/>
              </a:rPr>
              <a:t>Penalità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Temporale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: </a:t>
            </a:r>
            <a:r>
              <a:rPr lang="it-IT" sz="1275" i="0" u="none" dirty="0" err="1">
                <a:solidFill>
                  <a:srgbClr val="334155"/>
                </a:solidFill>
                <a:latin typeface="Inter"/>
              </a:rPr>
              <a:t>r</a:t>
            </a:r>
            <a:r>
              <a:rPr lang="it-IT" sz="1275" i="0" u="none" baseline="30000" dirty="0" err="1">
                <a:solidFill>
                  <a:srgbClr val="334155"/>
                </a:solidFill>
                <a:latin typeface="Inter"/>
              </a:rPr>
              <a:t>step</a:t>
            </a:r>
            <a:r>
              <a:rPr lang="it-IT" sz="1275" i="0" u="none" dirty="0">
                <a:solidFill>
                  <a:srgbClr val="334155"/>
                </a:solidFill>
                <a:latin typeface="Inter"/>
              </a:rPr>
              <a:t> = -0,02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 per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incentivare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percorsi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brevi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6075" y="3957540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1325" y="3930104"/>
            <a:ext cx="4514850" cy="46955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i="0" u="none" dirty="0">
                <a:solidFill>
                  <a:srgbClr val="334155"/>
                </a:solidFill>
                <a:latin typeface="Inter"/>
              </a:rPr>
              <a:t>Bonus</a:t>
            </a:r>
            <a:r>
              <a:rPr lang="it-IT"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/</a:t>
            </a:r>
            <a:r>
              <a:rPr lang="it-IT"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Penalità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di </a:t>
            </a:r>
            <a:r>
              <a:rPr lang="it-IT" sz="1275" dirty="0">
                <a:solidFill>
                  <a:srgbClr val="334155"/>
                </a:solidFill>
                <a:latin typeface="Inter"/>
              </a:rPr>
              <a:t>stop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: Premio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positivo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se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IoU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≥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τ</a:t>
            </a:r>
            <a:r>
              <a:rPr sz="1275" i="0" u="none" baseline="-25000" dirty="0" err="1">
                <a:solidFill>
                  <a:srgbClr val="334155"/>
                </a:solidFill>
                <a:latin typeface="Inter"/>
              </a:rPr>
              <a:t>IoU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(0.6),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penalità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severa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per stop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prematuri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o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troncamento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6075" y="4578004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1325" y="4550568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i="0" u="none" dirty="0">
                <a:solidFill>
                  <a:srgbClr val="334155"/>
                </a:solidFill>
                <a:latin typeface="Inter"/>
              </a:rPr>
              <a:t>Scaling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Adattivo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: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Normalizzazione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online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tramite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media e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varianza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mobile.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06240"/>
            <a:ext cx="2845444" cy="315976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2694" y="2306240"/>
            <a:ext cx="4786610" cy="315976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5055" y="2306240"/>
            <a:ext cx="2845444" cy="31597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Imitation Learning &amp; Stabilizzazione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601515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66775" y="3306365"/>
            <a:ext cx="236763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F172A"/>
                </a:solidFill>
                <a:latin typeface="Poppins SemiBold"/>
              </a:rPr>
              <a:t>Lookahead Oracle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6775" y="3849290"/>
            <a:ext cx="2254894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Oracolo con ricerca ad albero (profondità 2) che guida l'agente nelle prime fasi simulando le conseguenze delle azioni per raggiungere l'80% di IoU.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97969" y="2601515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97969" y="3306365"/>
            <a:ext cx="4405863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F172A"/>
                </a:solidFill>
                <a:latin typeface="Poppins SemiBold"/>
              </a:rPr>
              <a:t>DQfD Margin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97969" y="3849290"/>
            <a:ext cx="4196060" cy="434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u="none" dirty="0">
                <a:solidFill>
                  <a:srgbClr val="475569"/>
                </a:solidFill>
                <a:latin typeface="Inter"/>
              </a:rPr>
              <a:t>Forza </a:t>
            </a:r>
            <a:r>
              <a:rPr sz="1125" b="0" u="none" dirty="0" err="1">
                <a:solidFill>
                  <a:srgbClr val="475569"/>
                </a:solidFill>
                <a:latin typeface="Inter"/>
              </a:rPr>
              <a:t>i</a:t>
            </a:r>
            <a:r>
              <a:rPr sz="1125" b="0" u="none" dirty="0">
                <a:solidFill>
                  <a:srgbClr val="475569"/>
                </a:solidFill>
                <a:latin typeface="Inter"/>
              </a:rPr>
              <a:t> Q-value delle </a:t>
            </a:r>
            <a:r>
              <a:rPr sz="1125" b="0" u="none" dirty="0" err="1">
                <a:solidFill>
                  <a:srgbClr val="475569"/>
                </a:solidFill>
                <a:latin typeface="Inter"/>
              </a:rPr>
              <a:t>azioni</a:t>
            </a:r>
            <a:r>
              <a:rPr sz="1125" b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u="none" dirty="0" err="1">
                <a:solidFill>
                  <a:srgbClr val="475569"/>
                </a:solidFill>
                <a:latin typeface="Inter"/>
              </a:rPr>
              <a:t>suggerite</a:t>
            </a:r>
            <a:r>
              <a:rPr sz="1125" b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u="none" dirty="0" err="1">
                <a:solidFill>
                  <a:srgbClr val="475569"/>
                </a:solidFill>
                <a:latin typeface="Inter"/>
              </a:rPr>
              <a:t>dall'oracolo</a:t>
            </a:r>
            <a:r>
              <a:rPr sz="1125" b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lang="it-IT" sz="1125" b="0" u="none" dirty="0">
                <a:solidFill>
                  <a:srgbClr val="475569"/>
                </a:solidFill>
                <a:latin typeface="Inter"/>
              </a:rPr>
              <a:t>(</a:t>
            </a:r>
            <a:r>
              <a:rPr lang="it-IT" sz="1125" b="0" u="none" dirty="0" err="1">
                <a:solidFill>
                  <a:srgbClr val="475569"/>
                </a:solidFill>
                <a:latin typeface="Inter"/>
              </a:rPr>
              <a:t>a</a:t>
            </a:r>
            <a:r>
              <a:rPr lang="it-IT" sz="1125" b="0" u="none" baseline="-25000" dirty="0" err="1">
                <a:solidFill>
                  <a:srgbClr val="475569"/>
                </a:solidFill>
                <a:latin typeface="Inter"/>
              </a:rPr>
              <a:t>E</a:t>
            </a:r>
            <a:r>
              <a:rPr lang="it-IT" sz="1125" b="0" u="none" dirty="0">
                <a:solidFill>
                  <a:srgbClr val="475569"/>
                </a:solidFill>
                <a:latin typeface="Inter"/>
              </a:rPr>
              <a:t>) </a:t>
            </a:r>
            <a:r>
              <a:rPr sz="1125" b="0" u="none" dirty="0">
                <a:solidFill>
                  <a:srgbClr val="475569"/>
                </a:solidFill>
                <a:latin typeface="Inter"/>
              </a:rPr>
              <a:t>a </a:t>
            </a:r>
            <a:r>
              <a:rPr sz="1125" b="0" u="none" dirty="0" err="1">
                <a:solidFill>
                  <a:srgbClr val="475569"/>
                </a:solidFill>
                <a:latin typeface="Inter"/>
              </a:rPr>
              <a:t>superare</a:t>
            </a:r>
            <a:r>
              <a:rPr sz="1125" b="0" u="none" dirty="0">
                <a:solidFill>
                  <a:srgbClr val="475569"/>
                </a:solidFill>
                <a:latin typeface="Inter"/>
              </a:rPr>
              <a:t> le </a:t>
            </a:r>
            <a:r>
              <a:rPr sz="1125" b="0" u="none" dirty="0" err="1">
                <a:solidFill>
                  <a:srgbClr val="475569"/>
                </a:solidFill>
                <a:latin typeface="Inter"/>
              </a:rPr>
              <a:t>altre</a:t>
            </a:r>
            <a:r>
              <a:rPr sz="1125" b="0" u="none" dirty="0">
                <a:solidFill>
                  <a:srgbClr val="475569"/>
                </a:solidFill>
                <a:latin typeface="Inter"/>
              </a:rPr>
              <a:t> di un </a:t>
            </a:r>
            <a:r>
              <a:rPr sz="1125" b="0" u="none" dirty="0" err="1">
                <a:solidFill>
                  <a:srgbClr val="475569"/>
                </a:solidFill>
                <a:latin typeface="Inter"/>
              </a:rPr>
              <a:t>margine</a:t>
            </a:r>
            <a:r>
              <a:rPr sz="1125" b="0" u="none" dirty="0">
                <a:solidFill>
                  <a:srgbClr val="475569"/>
                </a:solidFill>
                <a:latin typeface="Inter"/>
              </a:rPr>
              <a:t> m = 0.8: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0330" y="2601515"/>
            <a:ext cx="514350" cy="514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070330" y="3306365"/>
            <a:ext cx="236763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0F172A"/>
                </a:solidFill>
                <a:latin typeface="Poppins SemiBold"/>
              </a:rPr>
              <a:t>PER &amp; N-Step Returns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330" y="3849290"/>
            <a:ext cx="2254894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Inter"/>
              </a:rPr>
              <a:t>• Prioritized Experience Replay (α = 0.6, β: 0.4 → 1.0) per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campionare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gli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errori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TD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più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alti.</a:t>
            </a:r>
            <a:r>
              <a:rPr dirty="0"/>
              <a:t>
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•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Ritorni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a 3-step per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propagazione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rapida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475569"/>
                </a:solidFill>
                <a:latin typeface="Inter"/>
              </a:rPr>
              <a:t>dei</a:t>
            </a:r>
            <a:r>
              <a:rPr sz="1125" b="0" i="0" u="none" dirty="0">
                <a:solidFill>
                  <a:srgbClr val="475569"/>
                </a:solidFill>
                <a:latin typeface="Inter"/>
              </a:rPr>
              <a:t> reward.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5837" y="2734865"/>
            <a:ext cx="27622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97982" y="2734865"/>
            <a:ext cx="314325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  <a14:imgEffect>
                      <a14:brightnessContrast bright="-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88469" y="4674691"/>
            <a:ext cx="3815060" cy="248394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17967" y="2734865"/>
            <a:ext cx="21907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Setup Sperimentale e Iperparametri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1832571"/>
              </p:ext>
            </p:extLst>
          </p:nvPr>
        </p:nvGraphicFramePr>
        <p:xfrm>
          <a:off x="571500" y="2149078"/>
          <a:ext cx="11029949" cy="34742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4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638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1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632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Parametro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Valore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Descrizione / Ruolo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6320"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Epoche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&amp; Batch Size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400 epoche / 64 episodi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Simulazione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vettorizzata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in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parallelo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su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GPU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6320"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Target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IoU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(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τIoU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0.6 (Oracolo: 0.8)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Soglia di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successo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per la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terminazione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con </a:t>
                      </a:r>
                      <a:r>
                        <a:rPr lang="it-IT"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stop</a:t>
                      </a:r>
                      <a:endParaRPr sz="1125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320"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Politica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ε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-Greedy &amp;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Oracolo</a:t>
                      </a:r>
                      <a:endParaRPr sz="1125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1.0 → 0.1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Decadimento lineare guidato nella prima metà del training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6320"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Learning Rate &amp;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Ottimizzatore</a:t>
                      </a:r>
                      <a:endParaRPr sz="1125" b="0" i="0" u="none" dirty="0">
                        <a:solidFill>
                          <a:srgbClr val="334155"/>
                        </a:solidFill>
                        <a:latin typeface="Inter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1e-4 (Adam, Weight Decay 1e-4)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Aggiornamento limitato alla sola testa decisionale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6320"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Replay Buffer &amp; PER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100.000 transizioni / α = 0.6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Memoria degli embedding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visivi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lang="it-IT"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e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Importance Sampling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6323"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Orizzonte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N-step &amp; Target Soft Update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N = 3 steps / τ = 0.01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Propagazione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rapida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dei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reward e </a:t>
                      </a:r>
                      <a:r>
                        <a:rPr sz="112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stabilità</a:t>
                      </a:r>
                      <a:r>
                        <a:rPr sz="112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del bootstrap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81025" y="3120628"/>
            <a:ext cx="33749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56000" y="3120628"/>
            <a:ext cx="28638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19900" y="3120628"/>
            <a:ext cx="47910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81025" y="3642121"/>
            <a:ext cx="33749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956000" y="3642121"/>
            <a:ext cx="28638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19900" y="3642121"/>
            <a:ext cx="47910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81025" y="4132659"/>
            <a:ext cx="33749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956000" y="4132659"/>
            <a:ext cx="28638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19900" y="4132659"/>
            <a:ext cx="47910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81025" y="4623196"/>
            <a:ext cx="33749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956000" y="4623196"/>
            <a:ext cx="28638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19900" y="4623196"/>
            <a:ext cx="47910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81025" y="5113734"/>
            <a:ext cx="33749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956000" y="5113734"/>
            <a:ext cx="28638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19900" y="5113734"/>
            <a:ext cx="47910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81025" y="5604271"/>
            <a:ext cx="33749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956000" y="5604271"/>
            <a:ext cx="28638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819900" y="5604271"/>
            <a:ext cx="47910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390650"/>
            <a:ext cx="11049000" cy="49911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Risultati Sperimentali (Test Set)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4605337"/>
            <a:ext cx="11049000" cy="71437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4748212"/>
            <a:ext cx="106680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 dirty="0" err="1">
                <a:solidFill>
                  <a:srgbClr val="334155"/>
                </a:solidFill>
                <a:latin typeface="Inter"/>
              </a:rPr>
              <a:t>Analisi</a:t>
            </a:r>
            <a:r>
              <a:rPr sz="1125" b="1" i="0" u="none" dirty="0">
                <a:solidFill>
                  <a:srgbClr val="334155"/>
                </a:solidFill>
                <a:latin typeface="Inter"/>
              </a:rPr>
              <a:t> delle </a:t>
            </a:r>
            <a:r>
              <a:rPr sz="1125" b="1" i="0" u="none" dirty="0" err="1">
                <a:solidFill>
                  <a:srgbClr val="334155"/>
                </a:solidFill>
                <a:latin typeface="Inter"/>
              </a:rPr>
              <a:t>Prestazioni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: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Valutazione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condotta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su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215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immagini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mai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viste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.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L'agente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dimostra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di aver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appreso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una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solida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politica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di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arresto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autonomo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(95.3%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dei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casi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),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riducendo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gli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step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medi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da 50 a circa 25 per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episodio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e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raggiungendo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un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IoU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medio del 58%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negli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arresti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125" b="0" i="0" u="none" dirty="0" err="1">
                <a:solidFill>
                  <a:srgbClr val="334155"/>
                </a:solidFill>
                <a:latin typeface="Inter"/>
              </a:rPr>
              <a:t>spontanei</a:t>
            </a:r>
            <a:r>
              <a:rPr sz="112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4605337"/>
            <a:ext cx="38100" cy="7143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>
                <a:solidFill>
                  <a:srgbClr val="0F172A"/>
                </a:solidFill>
                <a:latin typeface="Poppins"/>
              </a:rPr>
              <a:t>Analisi dei Fallimenti &amp; GradCAM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6300" y="2076450"/>
            <a:ext cx="5029200" cy="4445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i="0" u="none" dirty="0" err="1">
                <a:solidFill>
                  <a:srgbClr val="334155"/>
                </a:solidFill>
                <a:latin typeface="Inter"/>
              </a:rPr>
              <a:t>Capacità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di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Generalizzazione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: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L'agente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localizza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correttamente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lesioni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di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varie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dimensioni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,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adattando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il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passo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di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restringimento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in modo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fluido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2914650"/>
            <a:ext cx="5029200" cy="444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800"/>
              </a:lnSpc>
            </a:pPr>
            <a:r>
              <a:rPr sz="1200" i="0" u="none" dirty="0" err="1">
                <a:solidFill>
                  <a:srgbClr val="334155"/>
                </a:solidFill>
                <a:latin typeface="Inter"/>
              </a:rPr>
              <a:t>Criticità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nei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Tumori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it-IT" sz="1200" i="0" u="none" dirty="0">
                <a:solidFill>
                  <a:srgbClr val="334155"/>
                </a:solidFill>
                <a:latin typeface="Inter"/>
              </a:rPr>
              <a:t>grigi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: La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distribuzione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bimodale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del dataset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rivela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maggiori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difficoltà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sulle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lesioni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ad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intensità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lang="it-IT" sz="1200" i="0" u="none" dirty="0">
                <a:solidFill>
                  <a:srgbClr val="334155"/>
                </a:solidFill>
                <a:latin typeface="Inter"/>
              </a:rPr>
              <a:t>intermedia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752850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i="0" u="none" dirty="0">
                <a:solidFill>
                  <a:srgbClr val="334155"/>
                </a:solidFill>
                <a:latin typeface="Inter"/>
              </a:rPr>
              <a:t>Visual Mismatch &amp; Contorni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Sfumati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: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Lesioni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con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margini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poco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definiti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portano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l'agente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a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tentennare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tra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espansione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 e </a:t>
            </a:r>
            <a:r>
              <a:rPr sz="1200" i="0" u="none" dirty="0" err="1">
                <a:solidFill>
                  <a:srgbClr val="334155"/>
                </a:solidFill>
                <a:latin typeface="Inter"/>
              </a:rPr>
              <a:t>restringimento</a:t>
            </a:r>
            <a:r>
              <a:rPr sz="120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00262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938462"/>
            <a:ext cx="171450" cy="1809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776662"/>
            <a:ext cx="190500" cy="180975"/>
          </a:xfrm>
          <a:prstGeom prst="rect">
            <a:avLst/>
          </a:prstGeom>
        </p:spPr>
      </p:pic>
      <p:pic>
        <p:nvPicPr>
          <p:cNvPr id="16" name="Immagine 15">
            <a:extLst>
              <a:ext uri="{FF2B5EF4-FFF2-40B4-BE49-F238E27FC236}">
                <a16:creationId xmlns:a16="http://schemas.microsoft.com/office/drawing/2014/main" id="{ECDD7AD8-EC53-C68D-48D5-4900E03FF7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1800" y="1571625"/>
            <a:ext cx="2133600" cy="2133600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7CBDA9B5-9959-A066-5C4C-5C969F69D4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2644" y="3937759"/>
            <a:ext cx="2133600" cy="2133600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38E37F20-5EA3-D940-3499-C8955AA78D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72600" y="1571625"/>
            <a:ext cx="21336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26481"/>
            <a:ext cx="5334000" cy="31194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326481"/>
            <a:ext cx="5334000" cy="31194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sz="2700" b="1" i="0" u="none" dirty="0" err="1">
                <a:solidFill>
                  <a:srgbClr val="0F172A"/>
                </a:solidFill>
                <a:latin typeface="Poppins"/>
              </a:rPr>
              <a:t>Conclusioni</a:t>
            </a:r>
            <a:r>
              <a:rPr sz="2700" b="1" i="0" u="none" dirty="0">
                <a:solidFill>
                  <a:srgbClr val="0F172A"/>
                </a:solidFill>
                <a:latin typeface="Poppins"/>
              </a:rPr>
              <a:t> e </a:t>
            </a:r>
            <a:r>
              <a:rPr sz="2700" b="1" i="0" u="none" dirty="0" err="1">
                <a:solidFill>
                  <a:srgbClr val="0F172A"/>
                </a:solidFill>
                <a:latin typeface="Poppins"/>
              </a:rPr>
              <a:t>Sviluppi</a:t>
            </a:r>
            <a:r>
              <a:rPr sz="2700" b="1" i="0" u="none" dirty="0">
                <a:solidFill>
                  <a:srgbClr val="0F172A"/>
                </a:solidFill>
                <a:latin typeface="Poppins"/>
              </a:rPr>
              <a:t> </a:t>
            </a:r>
            <a:r>
              <a:rPr sz="2700" b="1" i="0" u="none" dirty="0" err="1">
                <a:solidFill>
                  <a:srgbClr val="0F172A"/>
                </a:solidFill>
                <a:latin typeface="Poppins"/>
              </a:rPr>
              <a:t>Futuri</a:t>
            </a:r>
            <a:endParaRPr sz="27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5825" y="2640806"/>
            <a:ext cx="4940617" cy="314325"/>
          </a:xfrm>
          <a:prstGeom prst="rect">
            <a:avLst/>
          </a:prstGeom>
          <a:noFill/>
        </p:spPr>
        <p:txBody>
          <a:bodyPr wrap="square" lIns="161925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40AF"/>
                </a:solidFill>
                <a:latin typeface="Poppins SemiBold"/>
              </a:rPr>
              <a:t>Punti di Forza del Progetto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2640806"/>
            <a:ext cx="4940617" cy="31432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40AF"/>
                </a:solidFill>
                <a:latin typeface="Poppins SemiBold"/>
              </a:rPr>
              <a:t>Sviluppi Futuri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2688431"/>
            <a:ext cx="161925" cy="209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81075" y="3115917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325" y="3088481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i="0" u="none" dirty="0" err="1">
                <a:solidFill>
                  <a:srgbClr val="334155"/>
                </a:solidFill>
                <a:latin typeface="Inter"/>
              </a:rPr>
              <a:t>Integrazione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con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successo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di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DQfD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, PER,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CIoU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e Dueling Double DQN in un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dominio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medicale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a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dati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limitati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1075" y="3715992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3688556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i="0" u="none" dirty="0" err="1">
                <a:solidFill>
                  <a:srgbClr val="334155"/>
                </a:solidFill>
                <a:latin typeface="Inter"/>
              </a:rPr>
              <a:t>Architettura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computazionalmente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efficiente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grazie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all'estrazione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di feature visive via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RoI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Align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unificato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075" y="4316067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4288631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L'Imitation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Learning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guidato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da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oracolo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lookahead ha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velocizzato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radicalmente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la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convergenza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b="0" i="0" u="none" dirty="0" err="1">
                <a:solidFill>
                  <a:srgbClr val="334155"/>
                </a:solidFill>
                <a:latin typeface="Inter"/>
              </a:rPr>
              <a:t>iniziale</a:t>
            </a:r>
            <a:r>
              <a:rPr sz="1275" b="0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2688431"/>
            <a:ext cx="209550" cy="2095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96075" y="3125856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91325" y="3088481"/>
            <a:ext cx="4514850" cy="46955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i="0" u="none" dirty="0" err="1">
                <a:solidFill>
                  <a:srgbClr val="334155"/>
                </a:solidFill>
                <a:latin typeface="Inter"/>
              </a:rPr>
              <a:t>Estensione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a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Volumi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3D: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Estendere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lo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spazio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delle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azioni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a Bounding Box 3D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su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sequenze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volumetriche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complete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6075" y="3670645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91325" y="3633270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i="0" u="none" dirty="0" err="1">
                <a:solidFill>
                  <a:srgbClr val="334155"/>
                </a:solidFill>
                <a:latin typeface="Inter"/>
              </a:rPr>
              <a:t>Rilevamento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Multi-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Lesione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: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Consentire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all'agente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di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identificare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e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tracciare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molteplici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focolai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tumorali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disgiunti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6075" y="4270720"/>
            <a:ext cx="95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 dirty="0">
                <a:solidFill>
                  <a:srgbClr val="334155"/>
                </a:solidFill>
                <a:latin typeface="Inter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91325" y="4233345"/>
            <a:ext cx="4514850" cy="485775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i="0" u="none" dirty="0">
                <a:solidFill>
                  <a:srgbClr val="334155"/>
                </a:solidFill>
                <a:latin typeface="Inter"/>
              </a:rPr>
              <a:t>Fine-Tuning della Backbone: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Sblocco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progressivo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degli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ultimi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strati </a:t>
            </a:r>
            <a:r>
              <a:rPr sz="1275" i="0" u="none" dirty="0" err="1">
                <a:solidFill>
                  <a:srgbClr val="334155"/>
                </a:solidFill>
                <a:latin typeface="Inter"/>
              </a:rPr>
              <a:t>convoluzionali</a:t>
            </a:r>
            <a:r>
              <a:rPr sz="1275" i="0" u="none" dirty="0">
                <a:solidFill>
                  <a:srgbClr val="334155"/>
                </a:solidFill>
                <a:latin typeface="Inter"/>
              </a:rPr>
              <a:t> di ResNet18.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476250"/>
            <a:ext cx="11601450" cy="4982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it-IT" sz="2700" b="1" i="0" u="none" dirty="0">
                <a:solidFill>
                  <a:srgbClr val="0F172A"/>
                </a:solidFill>
                <a:latin typeface="Poppins"/>
              </a:rPr>
              <a:t>Fine</a:t>
            </a:r>
            <a:endParaRPr sz="27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571500" y="1181100"/>
            <a:ext cx="47625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82CA040-E045-21CA-ED16-B4B67719D50F}"/>
              </a:ext>
            </a:extLst>
          </p:cNvPr>
          <p:cNvSpPr txBox="1"/>
          <p:nvPr/>
        </p:nvSpPr>
        <p:spPr>
          <a:xfrm>
            <a:off x="470915" y="1438394"/>
            <a:ext cx="77288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>
                <a:solidFill>
                  <a:srgbClr val="334155"/>
                </a:solidFill>
                <a:latin typeface="Inter"/>
              </a:rPr>
              <a:t>Codice disponibile all’indirizzo </a:t>
            </a:r>
            <a:r>
              <a:rPr lang="it-IT" sz="1600" dirty="0">
                <a:solidFill>
                  <a:srgbClr val="334155"/>
                </a:solidFill>
                <a:latin typeface="Int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https://github.com/LorenzoPinaUnimib/segmentation_rl</a:t>
            </a:r>
            <a:endParaRPr lang="it-IT" sz="1600" dirty="0">
              <a:solidFill>
                <a:srgbClr val="334155"/>
              </a:solidFill>
              <a:latin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1255</Words>
  <Application>Microsoft Macintosh PowerPoint</Application>
  <PresentationFormat>Widescreen</PresentationFormat>
  <Paragraphs>123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20" baseType="lpstr">
      <vt:lpstr>Arial</vt:lpstr>
      <vt:lpstr>Calibri</vt:lpstr>
      <vt:lpstr>Inter</vt:lpstr>
      <vt:lpstr>Poppins</vt:lpstr>
      <vt:lpstr>Poppins SemiBold</vt:lpstr>
      <vt:lpstr>Times New Roman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Lorenzo</dc:creator>
  <cp:keywords/>
  <dc:description>generated using python-pptx</dc:description>
  <cp:lastModifiedBy>Simone Rancati</cp:lastModifiedBy>
  <cp:revision>18</cp:revision>
  <dcterms:created xsi:type="dcterms:W3CDTF">2013-01-27T09:14:16Z</dcterms:created>
  <dcterms:modified xsi:type="dcterms:W3CDTF">2026-07-23T20:26:28Z</dcterms:modified>
  <cp:category/>
</cp:coreProperties>
</file>